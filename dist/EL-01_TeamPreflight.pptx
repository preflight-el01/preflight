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22"/>
  </p:sldIdLst>
  <p:sldSz cx="18288000" cy="10287000"/>
  <p:notesSz cx="6858000" cy="9144000"/>
  <p:embeddedFontLst>
    <p:embeddedFont>
      <p:font typeface="Agrandir" panose="020B0604020202020204" charset="0"/>
      <p:regular r:id="rId11"/>
    </p:embeddedFont>
    <p:embeddedFont>
      <p:font typeface="Agrandir Bold" panose="020B0604020202020204" charset="0"/>
      <p:regular r:id="rId12"/>
    </p:embeddedFont>
    <p:embeddedFont>
      <p:font typeface="Agrandir Medium" panose="020B0604020202020204" charset="0"/>
      <p:regular r:id="rId13"/>
    </p:embeddedFont>
    <p:embeddedFont>
      <p:font typeface="Anton" pitchFamily="2" charset="0"/>
      <p:regular r:id="rId14"/>
    </p:embeddedFont>
    <p:embeddedFont>
      <p:font typeface="Bebas Neue" panose="020B0606020202050201" pitchFamily="34" charset="0"/>
      <p:regular r:id="rId15"/>
    </p:embeddedFont>
    <p:embeddedFont>
      <p:font typeface="Horizon" panose="020B0604020202020204" charset="0"/>
      <p:regular r:id="rId16"/>
    </p:embeddedFont>
    <p:embeddedFont>
      <p:font typeface="Now Medium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0" d="100"/>
          <a:sy n="40" d="100"/>
        </p:scale>
        <p:origin x="900" y="8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Preflight answers one question for any ML paper: should you believe it? It re-runs every reported number and explains every gap with a re-run, not an opinion.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steps from paper to verdict to why. The table maps every objective in the problem statement to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Python engine, three runtimes: the browser via Pyodide, a CLI, and a FastAPI server with Docker workers. The LLM only reads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competitor stops at whether. We go to why, and to whether a passing number deserves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numbers on this slide are measured. Paper C takes about a minute in the browser because it tunes an SVM 12 ways per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scaling story is unusual: compute moves to the visitor's browser by default, and the server path is a classic queue plus workers with a content-hash cache.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this deck is measured. The competitor numbers come from their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screenshots of the real app. The full report exports as Markdown and JSON with run hashes.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preflight-el01.github.io/preflight/" TargetMode="External"/><Relationship Id="rId4" Type="http://schemas.openxmlformats.org/officeDocument/2006/relationships/hyperlink" Target="https://github.com/preflight-el01/preflight" TargetMode="External"/><Relationship Id="rId5" Type="http://schemas.openxmlformats.org/officeDocument/2006/relationships/hyperlink" Target="https://preflight-el01.github.io/preflight/preflight-demo.mp4" TargetMode="External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25915" y="-1272977"/>
            <a:ext cx="19113915" cy="11559977"/>
          </a:xfrm>
          <a:custGeom>
            <a:avLst/>
            <a:gdLst/>
            <a:ahLst/>
            <a:cxnLst/>
            <a:rect l="l" t="t" r="r" b="b"/>
            <a:pathLst>
              <a:path w="19113915" h="11559977">
                <a:moveTo>
                  <a:pt x="0" y="0"/>
                </a:moveTo>
                <a:lnTo>
                  <a:pt x="19113915" y="0"/>
                </a:lnTo>
                <a:lnTo>
                  <a:pt x="19113915" y="11559977"/>
                </a:lnTo>
                <a:lnTo>
                  <a:pt x="0" y="115599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730" r="-3730"/>
            </a:stretch>
          </a:blipFill>
        </p:spPr>
        <p:txBody>
          <a:bodyPr/>
          <a:p/>
        </p:txBody>
      </p:sp>
      <p:grpSp>
        <p:nvGrpSpPr>
          <p:cNvPr id="3" name="Group 3"/>
          <p:cNvGrpSpPr/>
          <p:nvPr/>
        </p:nvGrpSpPr>
        <p:grpSpPr>
          <a:xfrm>
            <a:off x="194361" y="247504"/>
            <a:ext cx="2343715" cy="1046334"/>
            <a:chOff x="0" y="0"/>
            <a:chExt cx="3124953" cy="139511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10396" cy="1395113"/>
            </a:xfrm>
            <a:custGeom>
              <a:avLst/>
              <a:gdLst/>
              <a:ahLst/>
              <a:cxnLst/>
              <a:rect l="l" t="t" r="r" b="b"/>
              <a:pathLst>
                <a:path w="1110396" h="1395113">
                  <a:moveTo>
                    <a:pt x="0" y="0"/>
                  </a:moveTo>
                  <a:lnTo>
                    <a:pt x="1110396" y="0"/>
                  </a:lnTo>
                  <a:lnTo>
                    <a:pt x="1110396" y="1395113"/>
                  </a:lnTo>
                  <a:lnTo>
                    <a:pt x="0" y="13951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  <p:sp>
          <p:nvSpPr>
            <p:cNvPr id="5" name="TextBox 5"/>
            <p:cNvSpPr txBox="1"/>
            <p:nvPr/>
          </p:nvSpPr>
          <p:spPr>
            <a:xfrm>
              <a:off x="1120873" y="92133"/>
              <a:ext cx="2004079" cy="86948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62"/>
                </a:lnSpc>
              </a:pPr>
              <a:r>
                <a:rPr lang="en-US" sz="1539" b="1">
                  <a:solidFill>
                    <a:srgbClr val="FFFFFF"/>
                  </a:solidFill>
                  <a:latin typeface="Now Medium"/>
                  <a:ea typeface="Now Medium"/>
                  <a:cs typeface="Now Medium"/>
                  <a:sym typeface="Now Medium"/>
                </a:rPr>
                <a:t>INSTITUTION'S INNOVATION COUNCIL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1120873" y="1011585"/>
              <a:ext cx="924960" cy="25425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07"/>
                </a:lnSpc>
              </a:pPr>
              <a:r>
                <a:rPr lang="en-US" sz="1303" b="1">
                  <a:solidFill>
                    <a:srgbClr val="FF914D"/>
                  </a:solidFill>
                  <a:latin typeface="Now Medium"/>
                  <a:ea typeface="Now Medium"/>
                  <a:cs typeface="Now Medium"/>
                  <a:sym typeface="Now Medium"/>
                </a:rPr>
                <a:t>DJSCE</a:t>
              </a:r>
            </a:p>
          </p:txBody>
        </p:sp>
      </p:grpSp>
      <p:sp>
        <p:nvSpPr>
          <p:cNvPr id="7" name="Freeform 7"/>
          <p:cNvSpPr/>
          <p:nvPr/>
        </p:nvSpPr>
        <p:spPr>
          <a:xfrm>
            <a:off x="1103757" y="9307013"/>
            <a:ext cx="524923" cy="880803"/>
          </a:xfrm>
          <a:custGeom>
            <a:avLst/>
            <a:gdLst/>
            <a:ahLst/>
            <a:cxnLst/>
            <a:rect l="l" t="t" r="r" b="b"/>
            <a:pathLst>
              <a:path w="524923" h="880803">
                <a:moveTo>
                  <a:pt x="0" y="0"/>
                </a:moveTo>
                <a:lnTo>
                  <a:pt x="524923" y="0"/>
                </a:lnTo>
                <a:lnTo>
                  <a:pt x="524923" y="880803"/>
                </a:lnTo>
                <a:lnTo>
                  <a:pt x="0" y="880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p/>
        </p:txBody>
      </p:sp>
      <p:grpSp>
        <p:nvGrpSpPr>
          <p:cNvPr id="8" name="Group 8"/>
          <p:cNvGrpSpPr/>
          <p:nvPr/>
        </p:nvGrpSpPr>
        <p:grpSpPr>
          <a:xfrm>
            <a:off x="1778704" y="5596150"/>
            <a:ext cx="7850808" cy="1419500"/>
            <a:chOff x="0" y="0"/>
            <a:chExt cx="13226375" cy="239145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226360" cy="2391442"/>
            </a:xfrm>
            <a:custGeom>
              <a:avLst/>
              <a:gdLst/>
              <a:ahLst/>
              <a:cxnLst/>
              <a:rect l="l" t="t" r="r" b="b"/>
              <a:pathLst>
                <a:path w="13226360" h="2391442">
                  <a:moveTo>
                    <a:pt x="0" y="347799"/>
                  </a:moveTo>
                  <a:cubicBezTo>
                    <a:pt x="0" y="155749"/>
                    <a:pt x="231130" y="0"/>
                    <a:pt x="516132" y="0"/>
                  </a:cubicBezTo>
                  <a:lnTo>
                    <a:pt x="12710228" y="0"/>
                  </a:lnTo>
                  <a:cubicBezTo>
                    <a:pt x="12995390" y="0"/>
                    <a:pt x="13226360" y="155749"/>
                    <a:pt x="13226360" y="347799"/>
                  </a:cubicBezTo>
                  <a:lnTo>
                    <a:pt x="13226360" y="2043643"/>
                  </a:lnTo>
                  <a:cubicBezTo>
                    <a:pt x="13226360" y="2235802"/>
                    <a:pt x="12995229" y="2391442"/>
                    <a:pt x="12710228" y="2391442"/>
                  </a:cubicBezTo>
                  <a:lnTo>
                    <a:pt x="516132" y="2391442"/>
                  </a:lnTo>
                  <a:cubicBezTo>
                    <a:pt x="230969" y="2391442"/>
                    <a:pt x="0" y="2235693"/>
                    <a:pt x="0" y="2043643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38100" cap="sq">
              <a:solidFill>
                <a:srgbClr val="D9D9D9">
                  <a:alpha val="80000"/>
                </a:srgbClr>
              </a:solidFill>
              <a:prstDash val="solid"/>
              <a:miter/>
            </a:ln>
          </p:spPr>
        </p:sp>
      </p:grpSp>
      <p:grpSp>
        <p:nvGrpSpPr>
          <p:cNvPr id="10" name="Group 10"/>
          <p:cNvGrpSpPr/>
          <p:nvPr/>
        </p:nvGrpSpPr>
        <p:grpSpPr>
          <a:xfrm>
            <a:off x="1778704" y="7302306"/>
            <a:ext cx="7850808" cy="1419500"/>
            <a:chOff x="0" y="0"/>
            <a:chExt cx="13226375" cy="239145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3226360" cy="2391442"/>
            </a:xfrm>
            <a:custGeom>
              <a:avLst/>
              <a:gdLst/>
              <a:ahLst/>
              <a:cxnLst/>
              <a:rect l="l" t="t" r="r" b="b"/>
              <a:pathLst>
                <a:path w="13226360" h="2391442">
                  <a:moveTo>
                    <a:pt x="0" y="347799"/>
                  </a:moveTo>
                  <a:cubicBezTo>
                    <a:pt x="0" y="155749"/>
                    <a:pt x="231130" y="0"/>
                    <a:pt x="516132" y="0"/>
                  </a:cubicBezTo>
                  <a:lnTo>
                    <a:pt x="12710228" y="0"/>
                  </a:lnTo>
                  <a:cubicBezTo>
                    <a:pt x="12995390" y="0"/>
                    <a:pt x="13226360" y="155749"/>
                    <a:pt x="13226360" y="347799"/>
                  </a:cubicBezTo>
                  <a:lnTo>
                    <a:pt x="13226360" y="2043643"/>
                  </a:lnTo>
                  <a:cubicBezTo>
                    <a:pt x="13226360" y="2235802"/>
                    <a:pt x="12995229" y="2391442"/>
                    <a:pt x="12710228" y="2391442"/>
                  </a:cubicBezTo>
                  <a:lnTo>
                    <a:pt x="516132" y="2391442"/>
                  </a:lnTo>
                  <a:cubicBezTo>
                    <a:pt x="230969" y="2391442"/>
                    <a:pt x="0" y="2235693"/>
                    <a:pt x="0" y="2043643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38100" cap="sq">
              <a:solidFill>
                <a:srgbClr val="D9D9D9">
                  <a:alpha val="80000"/>
                </a:srgbClr>
              </a:solidFill>
              <a:prstDash val="solid"/>
              <a:miter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10049754" y="5610575"/>
            <a:ext cx="6459542" cy="3111230"/>
            <a:chOff x="0" y="0"/>
            <a:chExt cx="10882489" cy="524153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882476" cy="5241513"/>
            </a:xfrm>
            <a:custGeom>
              <a:avLst/>
              <a:gdLst/>
              <a:ahLst/>
              <a:cxnLst/>
              <a:rect l="l" t="t" r="r" b="b"/>
              <a:pathLst>
                <a:path w="10882476" h="5241513">
                  <a:moveTo>
                    <a:pt x="0" y="762298"/>
                  </a:moveTo>
                  <a:cubicBezTo>
                    <a:pt x="0" y="341367"/>
                    <a:pt x="190171" y="0"/>
                    <a:pt x="424666" y="0"/>
                  </a:cubicBezTo>
                  <a:lnTo>
                    <a:pt x="10457810" y="0"/>
                  </a:lnTo>
                  <a:cubicBezTo>
                    <a:pt x="10692437" y="0"/>
                    <a:pt x="10882476" y="341367"/>
                    <a:pt x="10882476" y="762298"/>
                  </a:cubicBezTo>
                  <a:lnTo>
                    <a:pt x="10882476" y="4479215"/>
                  </a:lnTo>
                  <a:cubicBezTo>
                    <a:pt x="10882476" y="4900385"/>
                    <a:pt x="10692305" y="5241513"/>
                    <a:pt x="10457810" y="5241513"/>
                  </a:cubicBezTo>
                  <a:lnTo>
                    <a:pt x="424666" y="5241513"/>
                  </a:lnTo>
                  <a:cubicBezTo>
                    <a:pt x="190038" y="5241513"/>
                    <a:pt x="0" y="4900147"/>
                    <a:pt x="0" y="4479215"/>
                  </a:cubicBez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 w="38100" cap="sq">
              <a:solidFill>
                <a:srgbClr val="D9D9D9">
                  <a:alpha val="80000"/>
                </a:srgbClr>
              </a:solidFill>
              <a:prstDash val="solid"/>
              <a:miter/>
            </a:ln>
          </p:spPr>
        </p:sp>
      </p:grpSp>
      <p:sp>
        <p:nvSpPr>
          <p:cNvPr id="14" name="Freeform 14"/>
          <p:cNvSpPr/>
          <p:nvPr/>
        </p:nvSpPr>
        <p:spPr>
          <a:xfrm>
            <a:off x="113722" y="9330363"/>
            <a:ext cx="923360" cy="834102"/>
          </a:xfrm>
          <a:custGeom>
            <a:avLst/>
            <a:gdLst/>
            <a:ahLst/>
            <a:cxnLst/>
            <a:rect l="l" t="t" r="r" b="b"/>
            <a:pathLst>
              <a:path w="923360" h="834102">
                <a:moveTo>
                  <a:pt x="0" y="0"/>
                </a:moveTo>
                <a:lnTo>
                  <a:pt x="923360" y="0"/>
                </a:lnTo>
                <a:lnTo>
                  <a:pt x="923360" y="834102"/>
                </a:lnTo>
                <a:lnTo>
                  <a:pt x="0" y="8341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p/>
        </p:txBody>
      </p:sp>
      <p:sp>
        <p:nvSpPr>
          <p:cNvPr id="15" name="TextBox 15"/>
          <p:cNvSpPr txBox="1"/>
          <p:nvPr/>
        </p:nvSpPr>
        <p:spPr>
          <a:xfrm>
            <a:off x="1695355" y="9418040"/>
            <a:ext cx="4859916" cy="649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83"/>
              </a:lnSpc>
            </a:pPr>
            <a:r>
              <a:rPr lang="en-US" sz="2100" spc="298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DWARKADAS J SANGHVI COLLEGE OF ENGINEERING, VILE PARLE(W)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955620" y="5953475"/>
            <a:ext cx="7498079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Team Name: </a:t>
            </a:r>
            <a:r>
              <a:rPr sz="2600">
                <a:solidFill>
                  <a:srgbClr val="003470"/>
                </a:solidFill>
                <a:latin typeface="Agrandir"/>
              </a:rPr>
              <a:t>Team Preflight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55620" y="7940755"/>
            <a:ext cx="758952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PS Name :</a:t>
            </a:r>
            <a:r>
              <a:rPr sz="1900">
                <a:solidFill>
                  <a:srgbClr val="003470"/>
                </a:solidFill>
                <a:latin typeface="Agrandir"/>
              </a:rPr>
              <a:t> AI-Powered ML Paper Reproducibility Platform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955620" y="7431031"/>
            <a:ext cx="7498079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PS ID :</a:t>
            </a:r>
            <a:r>
              <a:rPr sz="2600">
                <a:solidFill>
                  <a:srgbClr val="003470"/>
                </a:solidFill>
                <a:latin typeface="Agrandir"/>
              </a:rPr>
              <a:t> EL-01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307916" y="5724875"/>
            <a:ext cx="2307532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>
                <a:solidFill>
                  <a:srgbClr val="003470"/>
                </a:solidFill>
                <a:latin typeface="Agrandir Bold"/>
                <a:ea typeface="Agrandir Bold"/>
                <a:cs typeface="Agrandir Bold"/>
                <a:sym typeface="Agrandir Bold"/>
              </a:rPr>
              <a:t>Abstract :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60194" y="0"/>
            <a:ext cx="2720741" cy="1317816"/>
            <a:chOff x="0" y="0"/>
            <a:chExt cx="3627654" cy="17570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758552" cy="1757088"/>
            </a:xfrm>
            <a:custGeom>
              <a:avLst/>
              <a:gdLst/>
              <a:ahLst/>
              <a:cxnLst/>
              <a:rect l="l" t="t" r="r" b="b"/>
              <a:pathLst>
                <a:path w="1758552" h="1757088">
                  <a:moveTo>
                    <a:pt x="0" y="0"/>
                  </a:moveTo>
                  <a:lnTo>
                    <a:pt x="1758552" y="0"/>
                  </a:lnTo>
                  <a:lnTo>
                    <a:pt x="1758552" y="1757088"/>
                  </a:lnTo>
                  <a:lnTo>
                    <a:pt x="0" y="17570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  <p:sp>
          <p:nvSpPr>
            <p:cNvPr id="22" name="Freeform 22"/>
            <p:cNvSpPr/>
            <p:nvPr/>
          </p:nvSpPr>
          <p:spPr>
            <a:xfrm>
              <a:off x="2252616" y="192744"/>
              <a:ext cx="1375038" cy="1371600"/>
            </a:xfrm>
            <a:custGeom>
              <a:avLst/>
              <a:gdLst/>
              <a:ahLst/>
              <a:cxnLst/>
              <a:rect l="l" t="t" r="r" b="b"/>
              <a:pathLst>
                <a:path w="1375038" h="1371600">
                  <a:moveTo>
                    <a:pt x="0" y="0"/>
                  </a:moveTo>
                  <a:lnTo>
                    <a:pt x="1375038" y="0"/>
                  </a:lnTo>
                  <a:lnTo>
                    <a:pt x="1375038" y="1371600"/>
                  </a:lnTo>
                  <a:lnTo>
                    <a:pt x="0" y="1371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  <p:sp>
          <p:nvSpPr>
            <p:cNvPr id="23" name="TextBox 23"/>
            <p:cNvSpPr txBox="1"/>
            <p:nvPr/>
          </p:nvSpPr>
          <p:spPr>
            <a:xfrm>
              <a:off x="1758552" y="681902"/>
              <a:ext cx="254692" cy="3456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70"/>
                </a:lnSpc>
              </a:pPr>
              <a:r>
                <a:rPr lang="en-US" sz="1478">
                  <a:solidFill>
                    <a:srgbClr val="FFCD82"/>
                  </a:solidFill>
                  <a:latin typeface="Horizon"/>
                  <a:ea typeface="Horizon"/>
                  <a:cs typeface="Horizon"/>
                  <a:sym typeface="Horizon"/>
                </a:rPr>
                <a:t>x</a:t>
              </a:r>
            </a:p>
          </p:txBody>
        </p:sp>
      </p:grpSp>
      <p:sp>
        <p:nvSpPr>
          <p:cNvPr id="24" name="Product line"/>
          <p:cNvSpPr txBox="1"/>
          <p:nvPr/>
        </p:nvSpPr>
        <p:spPr>
          <a:xfrm>
            <a:off x="1956816" y="6437376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Product: </a:t>
            </a:r>
            <a:r>
              <a:rPr sz="2100" b="0">
                <a:solidFill>
                  <a:srgbClr val="003470"/>
                </a:solidFill>
                <a:latin typeface="Agrandir"/>
              </a:rPr>
              <a:t>Preflight. Should you believe this ML paper?</a:t>
            </a:r>
          </a:p>
        </p:txBody>
      </p:sp>
      <p:sp>
        <p:nvSpPr>
          <p:cNvPr id="25" name="Abstract text"/>
          <p:cNvSpPr txBox="1"/>
          <p:nvPr/>
        </p:nvSpPr>
        <p:spPr>
          <a:xfrm>
            <a:off x="10305288" y="6309360"/>
            <a:ext cx="434340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10" b="0">
                <a:solidFill>
                  <a:srgbClr val="003470"/>
                </a:solidFill>
                <a:latin typeface="Agrandir Bold"/>
              </a:rPr>
              <a:t>Preflight</a:t>
            </a:r>
            <a:r>
              <a:rPr sz="1510" b="0">
                <a:solidFill>
                  <a:srgbClr val="003470"/>
                </a:solidFill>
                <a:latin typeface="Agrandir"/>
              </a:rPr>
              <a:t> re-runs every number in an ML paper over ten seeds, explains each gap with a counterfactual re-run, and flags results inflated by leakage, unfair baselines, wrong metrics or lucky seeds.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10" b="0">
                <a:solidFill>
                  <a:srgbClr val="003470"/>
                </a:solidFill>
                <a:latin typeface="Agrandir Bold"/>
              </a:rPr>
              <a:t>Claude reads the paper; re-runs decide. </a:t>
            </a:r>
            <a:r>
              <a:rPr sz="1510" b="0">
                <a:solidFill>
                  <a:srgbClr val="003470"/>
                </a:solidFill>
                <a:latin typeface="Agrandir"/>
              </a:rPr>
              <a:t>13/13 planted issues caught, 0 false alarms.</a:t>
            </a:r>
          </a:p>
        </p:txBody>
      </p:sp>
      <p:pic>
        <p:nvPicPr>
          <p:cNvPr id="26" name="Picture 25" descr="qr_dem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13280" y="6355080"/>
            <a:ext cx="1463040" cy="146304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4676120" y="7882127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540" b="0">
                <a:solidFill>
                  <a:srgbClr val="003470"/>
                </a:solidFill>
                <a:latin typeface="Agrandir Bold"/>
              </a:rPr>
              <a:t>Scan: live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grpSp>
        <p:nvGrpSpPr>
          <p:cNvPr id="3" name="Group 3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4" name="AutoShape 4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5" name="AutoShape 5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8" name="Group 8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1" name="TextBox 11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39"/>
              </a:lnSpc>
            </a:pPr>
            <a:r>
              <a:rPr lang="en-US" sz="7699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PROPOSED SOLUTION</a:t>
            </a:r>
          </a:p>
        </p:txBody>
      </p:sp>
      <p:sp>
        <p:nvSpPr>
          <p:cNvPr id="12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4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Reproducing is not enough. </a:t>
            </a:r>
            <a:r>
              <a:rPr sz="1610" b="0">
                <a:solidFill>
                  <a:srgbClr val="FFFFFF"/>
                </a:solidFill>
                <a:latin typeface="Agrandir"/>
              </a:rPr>
              <a:t>We show whether to believe a result, and prove it with a re-run.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450592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820" b="0">
                <a:solidFill>
                  <a:srgbClr val="FF914D"/>
                </a:solidFill>
                <a:latin typeface="Agrandir Bold"/>
              </a:rPr>
              <a:t>The problem: </a:t>
            </a:r>
            <a:r>
              <a:rPr sz="1820" b="0">
                <a:solidFill>
                  <a:srgbClr val="003470"/>
                </a:solidFill>
                <a:latin typeface="Agrandir"/>
              </a:rPr>
              <a:t>ML results can reproduce and still mislead: leaked test data, untuned baselines, lucky seeds.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Today's tools </a:t>
            </a:r>
            <a:r>
              <a:rPr sz="1820" b="0">
                <a:solidFill>
                  <a:srgbClr val="003470"/>
                </a:solidFill>
                <a:latin typeface="Agrandir"/>
              </a:rPr>
              <a:t>stop at “does it run?”. Preflight asks “should you believe it?”</a:t>
            </a:r>
          </a:p>
        </p:txBody>
      </p:sp>
      <p:sp>
        <p:nvSpPr>
          <p:cNvPr id="16" name="Step 1"/>
          <p:cNvSpPr/>
          <p:nvPr/>
        </p:nvSpPr>
        <p:spPr>
          <a:xfrm>
            <a:off x="603504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6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Paper + repo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PDF read by Claude; repo by folder or GitHub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59736" y="4480560"/>
            <a:ext cx="237744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tep 2"/>
          <p:cNvSpPr/>
          <p:nvPr/>
        </p:nvSpPr>
        <p:spPr>
          <a:xfrm>
            <a:off x="2724912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889504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9504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Claims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every table cell and comparison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581144" y="4480560"/>
            <a:ext cx="237744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tep 3"/>
          <p:cNvSpPr/>
          <p:nvPr/>
        </p:nvSpPr>
        <p:spPr>
          <a:xfrm>
            <a:off x="4846320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10912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10912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Runs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10912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sandboxed, over 10 seeds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702552" y="4480560"/>
            <a:ext cx="237744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tep 4"/>
          <p:cNvSpPr/>
          <p:nvPr/>
        </p:nvSpPr>
        <p:spPr>
          <a:xfrm>
            <a:off x="6967727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132319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19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Verdicts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19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four levels, seed-aware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823959" y="4480560"/>
            <a:ext cx="237745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tep 5"/>
          <p:cNvSpPr/>
          <p:nvPr/>
        </p:nvSpPr>
        <p:spPr>
          <a:xfrm>
            <a:off x="9089136" y="3520440"/>
            <a:ext cx="1828800" cy="1920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253728" y="361188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800" b="0">
                <a:solidFill>
                  <a:srgbClr val="FF914D"/>
                </a:solidFill>
                <a:latin typeface="Anton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53728" y="4142232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50" b="0">
                <a:solidFill>
                  <a:srgbClr val="003470"/>
                </a:solidFill>
                <a:latin typeface="Agrandir Bold"/>
              </a:rPr>
              <a:t>Why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3728" y="4544568"/>
            <a:ext cx="153619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re-runs that explain each gap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603504" y="5687568"/>
          <a:ext cx="103327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31920"/>
                <a:gridCol w="64008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What EL-01 asks for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What Preflight does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Understand the methodology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AI reader extracts claims and stated settings; you confirm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Find the implementation and config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README, config and AST mapping down to file:line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Execute in a controlled environment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Sandbox: browser WASM, subprocess or Docker; 10 seeds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Compare with reported results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Seed-aware verdict with a k-seed tolerance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Explain why results differ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Shapley gap attribution and missing-detail inference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Go beyond code exists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Leakage, metric, fair-baseline and fragility re-runs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Evidence-backed, per experiment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Claim Ledger: table cell, code line, command, log, hash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Lightweight CPU-only papers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CPU triage: full, scaled or untestable, with the reason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41" name="Rounded Rectangle 40"/>
          <p:cNvSpPr/>
          <p:nvPr/>
        </p:nvSpPr>
        <p:spPr>
          <a:xfrm>
            <a:off x="11420856" y="2487168"/>
            <a:ext cx="6281928" cy="536280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41" descr="clai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542032"/>
            <a:ext cx="6172200" cy="525307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1475720" y="7923126"/>
            <a:ext cx="6172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Claim Ledger for Paper A: every number, its verdict and its cause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TECHNICAL APPROACH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Rounded Rectangle 12"/>
          <p:cNvSpPr/>
          <p:nvPr/>
        </p:nvSpPr>
        <p:spPr>
          <a:xfrm>
            <a:off x="60350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CD82">
              <a:alpha val="95000"/>
            </a:srgbClr>
          </a:solidFill>
          <a:ln w="15875">
            <a:solidFill>
              <a:srgbClr val="FF914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4066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AI paper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Claude Opus 5.5 · PDF → claims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09544" y="2999232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48386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102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Parse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tables, settings, comparisons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9904" y="2999232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36422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0138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Map repo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README · config · AST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70263" y="2999232"/>
            <a:ext cx="246889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24458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8174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CPU triage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8174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full / scaled / untestable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50624" y="2999232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212494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262104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Static audit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62104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diff · leakage · metric · budget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4730984" y="2999232"/>
            <a:ext cx="246887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5005304" y="2487168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5142463" y="2578608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Execute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142463" y="2999232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sandbox · 10 seeds · self-heal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4066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Compare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k-seed tolerance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09544" y="4242816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348386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62102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Attribute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2102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Shapley over re-runs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89904" y="4242816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36422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50138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Infer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GRIM + sweep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970263" y="4242816"/>
            <a:ext cx="246889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24458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38174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Validity re-runs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8174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leak · dupes · metric · baseline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850624" y="4242816"/>
            <a:ext cx="246888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1212494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2262104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Fragility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262104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seeds · splits · ±10%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4730984" y="4242816"/>
            <a:ext cx="246887" cy="0"/>
          </a:xfrm>
          <a:prstGeom prst="line">
            <a:avLst/>
          </a:prstGeom>
          <a:ln w="25400">
            <a:solidFill>
              <a:srgbClr val="00347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15005304" y="3730752"/>
            <a:ext cx="2578608" cy="1024128"/>
          </a:xfrm>
          <a:prstGeom prst="roundRect">
            <a:avLst>
              <a:gd name="adj" fmla="val 6000"/>
            </a:avLst>
          </a:prstGeom>
          <a:solidFill>
            <a:srgbClr val="FFFF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5142463" y="3822191"/>
            <a:ext cx="230428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Report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142463" y="4242816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35507A"/>
                </a:solidFill>
                <a:latin typeface="Agrandir"/>
              </a:rPr>
              <a:t>ledger · card · issues · badge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6294608" y="3511296"/>
            <a:ext cx="0" cy="109728"/>
          </a:xfrm>
          <a:prstGeom prst="line">
            <a:avLst/>
          </a:prstGeom>
          <a:ln w="25400">
            <a:solidFill>
              <a:srgbClr val="6A7A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892807" y="3621024"/>
            <a:ext cx="14401801" cy="0"/>
          </a:xfrm>
          <a:prstGeom prst="line">
            <a:avLst/>
          </a:prstGeom>
          <a:ln w="25400">
            <a:solidFill>
              <a:srgbClr val="6A7A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892807" y="3621024"/>
            <a:ext cx="0" cy="109728"/>
          </a:xfrm>
          <a:prstGeom prst="line">
            <a:avLst/>
          </a:prstGeom>
          <a:ln w="25400">
            <a:solidFill>
              <a:srgbClr val="6A7A9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64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One AI step. </a:t>
            </a:r>
            <a:r>
              <a:rPr sz="1610" b="0">
                <a:solidFill>
                  <a:srgbClr val="FFFFFF"/>
                </a:solidFill>
                <a:latin typeface="Agrandir"/>
              </a:rPr>
              <a:t>Everything after it is deterministic, sandboxed and repeatable.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4864608"/>
            <a:ext cx="17007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914D"/>
                </a:solidFill>
                <a:latin typeface="Agrandir Bold"/>
              </a:rPr>
              <a:t>Dashed = the only AI step (claim extraction, checked by a person). </a:t>
            </a:r>
            <a:r>
              <a:rPr sz="1610" b="0">
                <a:solidFill>
                  <a:srgbClr val="003470"/>
                </a:solidFill>
                <a:latin typeface="Agrandir"/>
              </a:rPr>
              <a:t>Everything after it is deterministic: static analysis, sandboxed execution, statistics and counterfactual re-runs.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504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04672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Verdict rule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tol = max(2σ/√k, 0.5 pt)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k = seeds paper averaged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Partial: ≤ 3σ/√k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        or a scaled run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28616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129783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Gap attribution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9783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φᵢ = Σ |S|!(n−|S|−1)!/n!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     · [v(S∪{i}) − v(S)]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v(S): 10-seed mean,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00" b="0">
                <a:solidFill>
                  <a:srgbClr val="003470"/>
                </a:solidFill>
                <a:latin typeface="Consolas"/>
              </a:rPr>
              <a:t>S set to paper values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253728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454896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Sandbox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54896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fresh repo copy, hashed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seed set at the code's seed site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Docker: no network, CPU/RAM caps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probe: fits, splits, row hashes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578839" y="5623560"/>
            <a:ext cx="4041648" cy="274320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3780007" y="5760720"/>
            <a:ext cx="367588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Stack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780007" y="6327648"/>
            <a:ext cx="3721608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Python 3.14 · scikit-learn 1.8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Pyodide (WASM), Web Worker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FastAPI · queue · Docker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470" b="0">
                <a:solidFill>
                  <a:srgbClr val="003470"/>
                </a:solidFill>
                <a:latin typeface="Agrandir"/>
              </a:rPr>
              <a:t>Claude Opus 5.5, JSON output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03503" y="8586215"/>
            <a:ext cx="14923008" cy="153600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9" name="Picture 78" descr="f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8641080"/>
            <a:ext cx="14813280" cy="1426278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5681959" y="8686800"/>
            <a:ext cx="1965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35507A"/>
                </a:solidFill>
                <a:latin typeface="Agrandir"/>
              </a:rPr>
              <a:t>The same 11 stages, live in the app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INNOVATION AND UNIQUENESS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Others say whether. </a:t>
            </a:r>
            <a:r>
              <a:rPr sz="1610" b="0">
                <a:solidFill>
                  <a:srgbClr val="FFFFFF"/>
                </a:solidFill>
                <a:latin typeface="Agrandir"/>
              </a:rPr>
              <a:t>Preflight shows why, and catches results that reproduce but mislead.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03504" y="2542032"/>
          <a:ext cx="10607953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31720"/>
                <a:gridCol w="1182319"/>
                <a:gridCol w="1182319"/>
                <a:gridCol w="1182319"/>
                <a:gridCol w="1182319"/>
                <a:gridCol w="1182319"/>
                <a:gridCol w="1182319"/>
                <a:gridCol w="118231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/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Runs code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Per-claim verdict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Explains why (re-run)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Leakage check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Fragility / seeds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False-alarm control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Metric &amp; baseline audit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VERITAS (2026)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CORE-Bench agents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REPRO-Bench agents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Code Ocean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SciCoQA / Dude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Partly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A06200"/>
                          </a:solidFill>
                          <a:latin typeface="Agrandir"/>
                        </a:rPr>
                        <a:t>LLM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9AA6B5"/>
                          </a:solidFill>
                          <a:latin typeface="Agrandir"/>
                        </a:rPr>
                        <a:t>No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Preflight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Re-run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A7A51"/>
                          </a:solidFill>
                          <a:latin typeface="Agrandir"/>
                        </a:rPr>
                        <a:t>Yes</a:t>
                      </a:r>
                    </a:p>
                  </a:txBody>
                  <a:tcPr marL="91440" marR="91440" marT="36576" marB="36576" anchor="ctr">
                    <a:solidFill>
                      <a:srgbClr val="FFCD82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03504" y="67665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30" b="0">
                <a:solidFill>
                  <a:srgbClr val="6A7A90"/>
                </a:solidFill>
                <a:latin typeface="Agrandir"/>
              </a:rPr>
              <a:t>Based on each tool's published description. Partly: covers part of the column.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" y="7223760"/>
            <a:ext cx="10607040" cy="269748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" y="7360920"/>
            <a:ext cx="100584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7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“How is this different from VERITAS?” </a:t>
            </a:r>
          </a:p>
          <a:p>
            <a:pPr algn="l">
              <a:lnSpc>
                <a:spcPct val="102000"/>
              </a:lnSpc>
              <a:spcAft>
                <a:spcPts val="700"/>
              </a:spcAft>
            </a:pPr>
            <a:r>
              <a:rPr sz="1820" b="0">
                <a:solidFill>
                  <a:srgbClr val="003470"/>
                </a:solidFill>
                <a:latin typeface="Agrandir"/>
              </a:rPr>
              <a:t>VERITAS tells you whether a claim replicates. Preflight tells you why it failed, whether a passing result is inflated, and how fragile it is, and backs each finding with a counterfactual re-run.</a:t>
            </a:r>
          </a:p>
          <a:p>
            <a:pPr algn="l">
              <a:lnSpc>
                <a:spcPct val="102000"/>
              </a:lnSpc>
              <a:spcAft>
                <a:spcPts val="700"/>
              </a:spcAft>
            </a:pPr>
            <a:r>
              <a:rPr sz="1820" b="0">
                <a:solidFill>
                  <a:srgbClr val="003470"/>
                </a:solidFill>
                <a:latin typeface="Agrandir Bold"/>
              </a:rPr>
              <a:t>Original: </a:t>
            </a:r>
            <a:r>
              <a:rPr sz="1820" b="0">
                <a:solidFill>
                  <a:srgbClr val="003470"/>
                </a:solidFill>
                <a:latin typeface="Agrandir"/>
              </a:rPr>
              <a:t>a GRIM check rules out split ratios that cannot produce the reported accuracy before anything runs; seeds are injected at the code's own seed site; every flag must survive a re-run (Dude's false-positive problem).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58600" y="254203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841480" y="270662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0">
                <a:solidFill>
                  <a:srgbClr val="0A7A51"/>
                </a:solidFill>
                <a:latin typeface="Anton"/>
              </a:rPr>
              <a:t>96%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41480" y="350215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of a 2.46-pt gap explained by one config value (C), via Shapley re-runs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694408" y="254203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877288" y="270662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0">
                <a:solidFill>
                  <a:srgbClr val="C52F3B"/>
                </a:solidFill>
                <a:latin typeface="Anton"/>
              </a:rPr>
              <a:t>−28.8 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77288" y="350215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a result that reproduces, but only because feature selection saw the test 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658600" y="487375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841480" y="503834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360" b="0">
                <a:solidFill>
                  <a:srgbClr val="C52F3B"/>
                </a:solidFill>
                <a:latin typeface="Anton"/>
              </a:rPr>
              <a:t>+1.52 → −0.56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41480" y="583387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a claimed win that flips once the baseline gets the same tuning budget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4694408" y="4873752"/>
            <a:ext cx="2852928" cy="2148840"/>
          </a:xfrm>
          <a:prstGeom prst="roundRect">
            <a:avLst>
              <a:gd name="adj" fmla="val 6000"/>
            </a:avLst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4877288" y="5038344"/>
            <a:ext cx="25603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200" b="0">
                <a:solidFill>
                  <a:srgbClr val="A06200"/>
                </a:solidFill>
                <a:latin typeface="Anton"/>
              </a:rPr>
              <a:t>15 / 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877288" y="5833872"/>
            <a:ext cx="2514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conditions where “significantly outperforms” still holds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658600" y="7269480"/>
            <a:ext cx="5888736" cy="2606040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1932920" y="7452360"/>
            <a:ext cx="5394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6440" b="0">
                <a:solidFill>
                  <a:srgbClr val="FFCD82"/>
                </a:solidFill>
                <a:latin typeface="Anton"/>
              </a:rPr>
              <a:t>13 / 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32920" y="8412480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planted issues caught across the test papers, with 0 false alarms on the clean control. One real 1993 paper audited end to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FEASIBILITY AND VIABILITY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Built and running today. </a:t>
            </a:r>
            <a:r>
              <a:rPr sz="1610" b="0">
                <a:solidFill>
                  <a:srgbClr val="FFFFFF"/>
                </a:solidFill>
                <a:latin typeface="Agrandir"/>
              </a:rPr>
              <a:t>Every demo audit finishes within a minute, on a CPU, in the browser.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4871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Every demo audit runs on a CPU in seconds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03504" y="2971800"/>
          <a:ext cx="822960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1417320"/>
                <a:gridCol w="1143000"/>
                <a:gridCol w="1325880"/>
                <a:gridCol w="13258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Paper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Sandboxed runs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From cache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CPU-s (laptop)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FFFFFF"/>
                          </a:solidFill>
                          <a:latin typeface="Agrandir Bold"/>
                        </a:rPr>
                        <a:t>Live in browser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A · planted (7 claims)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242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94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3.7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6 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B · clean control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22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1.5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2.6 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C · planted (6 claims)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151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66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24.4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55 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 Bold"/>
                        </a:rPr>
                        <a:t>R · real, Street et al. 1993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82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49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8.6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60">
                          <a:solidFill>
                            <a:srgbClr val="003470"/>
                          </a:solidFill>
                          <a:latin typeface="Agrandir"/>
                        </a:rPr>
                        <a:t>13.3 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03504" y="53218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>
                <a:solidFill>
                  <a:srgbClr val="6A7A90"/>
                </a:solidFill>
                <a:latin typeface="Agrandir"/>
              </a:rPr>
              <a:t>Browser: Pyodide 314.0.7 in Chrome. Live and recorded runs match exactly.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5833872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Risks and mitigations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03504" y="6355080"/>
          <a:ext cx="8229600" cy="3520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54864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Risk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  <a:latin typeface="Agrandir Bold"/>
                        </a:rPr>
                        <a:t>Mitigation</a:t>
                      </a:r>
                    </a:p>
                  </a:txBody>
                  <a:tcPr marL="91440" marR="91440" marT="36576" marB="36576" anchor="ctr">
                    <a:solidFill>
                      <a:srgbClr val="00347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PDF tables misread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Claude with a JSON schema, then a person confirms the claims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LLM hallucination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LLM only extracts; every finding is a re-run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Repo breaks on new libraries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self-heal rules, patch shown, logged as impediment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Experiment too big for CPU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triage: scale rows to the RAM budget, verdict ≤ Partial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Hostile code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Docker: no network, CPU/RAM/PID caps, read-only root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 Bold"/>
                        </a:rPr>
                        <a:t>Venue wifi fails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>
                          <a:solidFill>
                            <a:srgbClr val="003470"/>
                          </a:solidFill>
                          <a:latin typeface="Agrandir"/>
                        </a:rPr>
                        <a:t>recorded replay, labelled as recorded</a:t>
                      </a:r>
                    </a:p>
                  </a:txBody>
                  <a:tcPr marL="91440" marR="91440" marT="36576" marB="36576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418320" y="24871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Three ways to deploy, one engine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18320" y="3017520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46920" y="3154679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Browser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50040" y="3154679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35507A"/>
                </a:solidFill>
                <a:latin typeface="Agrandir"/>
              </a:rPr>
              <a:t>Pyodide in a Web Worker. Zero server cost, nothing leaves the laptop. Works today.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4224528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46920" y="4361688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Server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50040" y="4361688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35507A"/>
                </a:solidFill>
                <a:latin typeface="Agrandir"/>
              </a:rPr>
              <a:t>FastAPI, job queue, one Docker container per run, result cache by content hash. Tested.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18320" y="5431536"/>
            <a:ext cx="8229600" cy="105156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646920" y="5568696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100" b="0">
                <a:solidFill>
                  <a:srgbClr val="003470"/>
                </a:solidFill>
                <a:latin typeface="Agrandir Bold"/>
              </a:rPr>
              <a:t>CI / author mode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50040" y="5568696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35507A"/>
                </a:solidFill>
                <a:latin typeface="Agrandir"/>
              </a:rPr>
              <a:t>The CLI writes a GitHub Action that re-audits on every push, plus a README badge.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18320" y="6720840"/>
            <a:ext cx="8229600" cy="3154680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92640" y="6903720"/>
            <a:ext cx="768096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2380" b="0">
                <a:solidFill>
                  <a:srgbClr val="FFCD82"/>
                </a:solidFill>
                <a:latin typeface="Agrandir Bold"/>
              </a:rPr>
              <a:t>Sustainability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Open-source core (MIT) so labs can self-host and trust the checks.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Hosted tier for conferences and journals: batch audits of artifact submissions, badge issuing, reviewer reports.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820" b="0">
                <a:solidFill>
                  <a:srgbClr val="FFFFFF"/>
                </a:solidFill>
                <a:latin typeface="Agrandir"/>
              </a:rPr>
              <a:t>Compute cost scales with papers audited, and small papers cost nothing because they run in the visitor's browser.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IMPACT AND SCALING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Success is cheap. </a:t>
            </a:r>
            <a:r>
              <a:rPr sz="1610" b="0">
                <a:solidFill>
                  <a:srgbClr val="FFFFFF"/>
                </a:solidFill>
                <a:latin typeface="Agrandir"/>
              </a:rPr>
              <a:t>Audits run in the user's browser, so 10× users is mostly static hosting.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4871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Who it is for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" y="29718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31089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Reviewers &amp; repro chairs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721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triage artifact submissions in minutes, with evidence to cite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9744" y="29718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992624" y="31089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Students &amp; MLRC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2624" y="37216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reproduce a paper for coursework and learn why it differs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" y="45720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6384" y="47091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ML teams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53218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check a paper's claims before building on them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09744" y="457200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992624" y="47091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60" b="0">
                <a:solidFill>
                  <a:srgbClr val="003470"/>
                </a:solidFill>
                <a:latin typeface="Agrandir Bold"/>
              </a:rPr>
              <a:t>Authors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2624" y="5321808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35507A"/>
                </a:solidFill>
                <a:latin typeface="Agrandir"/>
              </a:rPr>
              <a:t>pre-submission check and a README badge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35508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Tested, not promised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" y="6812280"/>
            <a:ext cx="8229600" cy="306324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22960" y="6967728"/>
            <a:ext cx="7863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13/13 planted issues caught, 0 false alarms (clean control: 0 findings)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11 automated tests: planted, clean, live edits, real paper, server API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Browser and laptop runs give identical numbers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Live edits re-audited: fixing C turns C1 green; a new scaler leak is caught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Server mode: HTTP submit, poll, idempotent cache, rate limits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750" b="0">
                <a:solidFill>
                  <a:srgbClr val="0A7A51"/>
                </a:solidFill>
                <a:latin typeface="Segoe UI Symbol"/>
              </a:rPr>
              <a:t>✓  </a:t>
            </a:r>
            <a:r>
              <a:rPr sz="1750" b="0">
                <a:solidFill>
                  <a:srgbClr val="003470"/>
                </a:solidFill>
                <a:latin typeface="Agrandir"/>
              </a:rPr>
              <a:t>Real 1993 paper: one claim exact, one flagged with the paper's own reason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0" y="2487168"/>
            <a:ext cx="8321040" cy="7388352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601200" y="2670048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60" b="0">
                <a:solidFill>
                  <a:srgbClr val="FFCD82"/>
                </a:solidFill>
                <a:latin typeface="Agrandir Bold"/>
              </a:rPr>
              <a:t>YC says yes tomorrow. </a:t>
            </a:r>
            <a:r>
              <a:rPr sz="2660" b="0">
                <a:solidFill>
                  <a:srgbClr val="FFFFFF"/>
                </a:solidFill>
                <a:latin typeface="Agrandir"/>
              </a:rPr>
              <a:t>Can it handle success next week?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74903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Users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21440" y="3749039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Most audits run in the visitor's browser, so 10× traffic is mostly static file hosting.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4754879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4754879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Stateless API + queue; autoscaled Docker workers; one container per run.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0" y="5760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Repeat 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21440" y="576072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Runs cached by hash of files, command and library versions; duplicate submissions are free.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676656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Breaks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21440" y="676656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Per-run CPU, RAM, PID and time caps; network off; rate limit per client.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777240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Crashes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21440" y="777240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Self-heal known API breaks; failed jobs keep their events; static audit still reports.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877824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CD82"/>
                </a:solidFill>
                <a:latin typeface="Agrandir Bold"/>
              </a:rPr>
              <a:t>Robustness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21440" y="8778240"/>
            <a:ext cx="5897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50" b="0">
                <a:solidFill>
                  <a:srgbClr val="FFFFFF"/>
                </a:solidFill>
                <a:latin typeface="Agrandir"/>
              </a:rPr>
              <a:t>Idempotent jobs and retries; recorded replay if live compute is down.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RESEARCH AND REFERENCES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Still unsolved. </a:t>
            </a:r>
            <a:r>
              <a:rPr sz="1610" b="0">
                <a:solidFill>
                  <a:srgbClr val="FFFFFF"/>
                </a:solidFill>
                <a:latin typeface="Agrandir"/>
              </a:rPr>
              <a:t>Top agents replicate under a third of papers; top LLMs find under half the discrepancies.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" y="2542032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6384" y="26517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21–27%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319272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best agents on PaperBench vs 41% for ML PhDs: replication is still hard (OpenAI, 2025)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9744" y="2542032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992624" y="265176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46.7%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3319272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of real paper–code discrepancies found by the best LLMs (SciCoQA, ACL 2026)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3504" y="4370831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86384" y="4480559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294+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5148071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papers in 17 fields affected by leakage (Kapoor &amp; Narayanan, Patterns 2023)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9744" y="4370831"/>
            <a:ext cx="4023360" cy="1645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992624" y="4480559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920" b="0">
                <a:solidFill>
                  <a:srgbClr val="FF914D"/>
                </a:solidFill>
                <a:latin typeface="Anton"/>
              </a:rPr>
              <a:t>68%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5148071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full replication by VERITAS after automated fixes; it reports whether, not why (arXiv 2607.02931)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635508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380" b="0">
                <a:solidFill>
                  <a:srgbClr val="003470"/>
                </a:solidFill>
                <a:latin typeface="Agrandir Bold"/>
              </a:rPr>
              <a:t>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6812280"/>
            <a:ext cx="84124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Kapoor &amp; Narayanan. Leakage and the reproducibility crisis in ML-based science. Patterns, 2023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Starace et al. PaperBench. OpenAI, 2025 · Siegel et al. CORE-Bench, 2024 · REPRO-Bench, ACL 2025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SciCoQA: paper–code alignment, ACL 2026 (arXiv 2601.12910) · Dude, arXiv 2609.03416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VERITAS: a general-purpose replication tool, arXiv 2607.02931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Brown &amp; Heathers. The GRIM test. Social Psychological and Personality Science, 2017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Pineau et al. ML Reproducibility Checklist, 2021 · Kapoor et al. REFORMS, 2023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35507A"/>
                </a:solidFill>
                <a:latin typeface="Agrandir"/>
              </a:rPr>
              <a:t>Street, Wolberg &amp; Mangasarian. Nuclear feature extraction for breast tumor diagnosis. SPIE, 1993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72600" y="2542032"/>
            <a:ext cx="8275320" cy="4343400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46920" y="2724912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660" b="0">
                <a:solidFill>
                  <a:srgbClr val="FFCD82"/>
                </a:solidFill>
                <a:latin typeface="Agrandir Bold"/>
              </a:rPr>
              <a:t>Try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33375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Live demo</a:t>
            </a:r>
          </a:p>
        </p:txBody>
      </p:sp>
      <p:sp>
        <p:nvSpPr>
          <p:cNvPr id="33" name="TextBox 32">
            <a:hlinkClick r:id="rId3"/>
          </p:cNvPr>
          <p:cNvSpPr txBox="1"/>
          <p:nvPr/>
        </p:nvSpPr>
        <p:spPr>
          <a:xfrm>
            <a:off x="11978640" y="333756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FFFF"/>
                </a:solidFill>
                <a:latin typeface="Agrandir"/>
              </a:rPr>
              <a:t>preflight-el01.github.io/preflight/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411480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Code (MIT)</a:t>
            </a:r>
          </a:p>
        </p:txBody>
      </p:sp>
      <p:sp>
        <p:nvSpPr>
          <p:cNvPr id="35" name="TextBox 34">
            <a:hlinkClick r:id="rId4"/>
          </p:cNvPr>
          <p:cNvSpPr txBox="1"/>
          <p:nvPr/>
        </p:nvSpPr>
        <p:spPr>
          <a:xfrm>
            <a:off x="11978640" y="411480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FFFF"/>
                </a:solidFill>
                <a:latin typeface="Agrandir"/>
              </a:rPr>
              <a:t>github.com/preflight-el01/preflight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48920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60" b="0">
                <a:solidFill>
                  <a:srgbClr val="FFFFFF"/>
                </a:solidFill>
                <a:latin typeface="Agrandir Bold"/>
              </a:rPr>
              <a:t>90-second video</a:t>
            </a:r>
          </a:p>
        </p:txBody>
      </p:sp>
      <p:sp>
        <p:nvSpPr>
          <p:cNvPr id="37" name="TextBox 36">
            <a:hlinkClick r:id="rId5"/>
          </p:cNvPr>
          <p:cNvSpPr txBox="1"/>
          <p:nvPr/>
        </p:nvSpPr>
        <p:spPr>
          <a:xfrm>
            <a:off x="11978640" y="489204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FFFF"/>
                </a:solidFill>
                <a:latin typeface="Agrandir"/>
              </a:rPr>
              <a:t>preflight-el01.github.io/preflight/preflight-demo.mp4</a:t>
            </a:r>
          </a:p>
        </p:txBody>
      </p:sp>
      <p:pic>
        <p:nvPicPr>
          <p:cNvPr id="38" name="Picture 37" descr="qr_dem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10559" y="3246120"/>
            <a:ext cx="1508760" cy="150876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46920" y="6053328"/>
            <a:ext cx="7772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80" b="0">
                <a:solidFill>
                  <a:srgbClr val="FFFFFF"/>
                </a:solidFill>
                <a:latin typeface="Agrandir"/>
              </a:rPr>
              <a:t>In the app: press Tour for a 90-second walkthrough, Ctrl K to search, Audit your own to upload a PDF.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72600" y="7086600"/>
            <a:ext cx="8275320" cy="2788920"/>
          </a:xfrm>
          <a:prstGeom prst="roundRect">
            <a:avLst>
              <a:gd name="adj" fmla="val 60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9646920" y="7242048"/>
            <a:ext cx="77724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Datasets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"/>
              </a:rPr>
              <a:t>Bundled with scikit-learn: Wisconsin Diagnostic Breast Cancer (569 cases), Digits. Generated: SynthGene-2k, SynthMed, SynthHD, SynthKNN-Aug, SynthLarge-2M.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Papers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680" b="0">
                <a:solidFill>
                  <a:srgbClr val="003470"/>
                </a:solidFill>
                <a:latin typeface="Agrandir"/>
              </a:rPr>
              <a:t>Three fictional test papers with an answer key (A, B, C) and one real paper (Street et al., 1993). Every number shown comes from a logged sandbox run.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0" r="-60"/>
            </a:stretch>
          </a:blipFill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602442" y="682985"/>
            <a:ext cx="14630400" cy="1171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240"/>
              </a:lnSpc>
            </a:pPr>
            <a:r>
              <a:rPr lang="en-US" sz="7700">
                <a:solidFill>
                  <a:srgbClr val="003470"/>
                </a:solidFill>
                <a:latin typeface="Anton"/>
                <a:ea typeface="Anton"/>
                <a:cs typeface="Anton"/>
                <a:sym typeface="Anton"/>
              </a:rPr>
              <a:t>LIVE PROOF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602442" y="1883567"/>
            <a:ext cx="16972599" cy="419100"/>
            <a:chOff x="0" y="0"/>
            <a:chExt cx="22630132" cy="558800"/>
          </a:xfrm>
        </p:grpSpPr>
        <p:sp>
          <p:nvSpPr>
            <p:cNvPr id="6" name="AutoShape 6"/>
            <p:cNvSpPr/>
            <p:nvPr/>
          </p:nvSpPr>
          <p:spPr>
            <a:xfrm>
              <a:off x="825885" y="279400"/>
              <a:ext cx="10230406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7" name="AutoShape 7"/>
            <p:cNvSpPr/>
            <p:nvPr/>
          </p:nvSpPr>
          <p:spPr>
            <a:xfrm>
              <a:off x="11720891" y="279400"/>
              <a:ext cx="10092220" cy="0"/>
            </a:xfrm>
            <a:prstGeom prst="line">
              <a:avLst/>
            </a:prstGeom>
            <a:ln w="63500" cap="flat">
              <a:solidFill>
                <a:srgbClr val="FFCD82"/>
              </a:solidFill>
              <a:prstDash val="lgDash"/>
              <a:headEnd type="none" w="sm" len="sm"/>
              <a:tailEnd type="none" w="sm" len="sm"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669573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DEP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1930346" y="0"/>
              <a:ext cx="699786" cy="558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  <a:spcBef>
                  <a:spcPct val="0"/>
                </a:spcBef>
              </a:pPr>
              <a:r>
                <a:rPr lang="en-US" sz="2799">
                  <a:solidFill>
                    <a:srgbClr val="FFCD82"/>
                  </a:solidFill>
                  <a:latin typeface="Anton"/>
                  <a:ea typeface="Anton"/>
                  <a:cs typeface="Anton"/>
                  <a:sym typeface="Anton"/>
                </a:rPr>
                <a:t>ARR</a:t>
              </a:r>
            </a:p>
          </p:txBody>
        </p:sp>
        <p:grpSp>
          <p:nvGrpSpPr>
            <p:cNvPr id="10" name="Group 10"/>
            <p:cNvGrpSpPr/>
            <p:nvPr/>
          </p:nvGrpSpPr>
          <p:grpSpPr>
            <a:xfrm>
              <a:off x="10991779" y="69453"/>
              <a:ext cx="646574" cy="419894"/>
              <a:chOff x="0" y="0"/>
              <a:chExt cx="406400" cy="263922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406400" cy="263922"/>
              </a:xfrm>
              <a:custGeom>
                <a:avLst/>
                <a:gdLst/>
                <a:ahLst/>
                <a:cxnLst/>
                <a:rect l="l" t="t" r="r" b="b"/>
                <a:pathLst>
                  <a:path w="406400" h="263922">
                    <a:moveTo>
                      <a:pt x="0" y="0"/>
                    </a:moveTo>
                    <a:lnTo>
                      <a:pt x="203200" y="0"/>
                    </a:lnTo>
                    <a:lnTo>
                      <a:pt x="406400" y="131961"/>
                    </a:lnTo>
                    <a:lnTo>
                      <a:pt x="203200" y="263922"/>
                    </a:lnTo>
                    <a:lnTo>
                      <a:pt x="0" y="263922"/>
                    </a:lnTo>
                    <a:lnTo>
                      <a:pt x="203200" y="1319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D82"/>
              </a:solidFill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177800" y="19050"/>
                <a:ext cx="152400" cy="244872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268"/>
                  </a:lnSpc>
                </a:pPr>
                <a:endParaRPr/>
              </a:p>
            </p:txBody>
          </p:sp>
        </p:grpSp>
      </p:grpSp>
      <p:sp>
        <p:nvSpPr>
          <p:cNvPr id="13" name="Takeaway"/>
          <p:cNvSpPr/>
          <p:nvPr/>
        </p:nvSpPr>
        <p:spPr>
          <a:xfrm>
            <a:off x="11841480" y="566928"/>
            <a:ext cx="4983480" cy="1261872"/>
          </a:xfrm>
          <a:prstGeom prst="roundRect">
            <a:avLst>
              <a:gd name="adj" fmla="val 12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088368" y="67665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90" b="0">
                <a:solidFill>
                  <a:srgbClr val="FF914D"/>
                </a:solidFill>
                <a:latin typeface="Agrandir Bold"/>
              </a:rPr>
              <a:t>THE POINT</a:t>
            </a:r>
          </a:p>
        </p:txBody>
      </p:sp>
      <p:sp>
        <p:nvSpPr>
          <p:cNvPr id="15" name="Takeaway text"/>
          <p:cNvSpPr txBox="1"/>
          <p:nvPr/>
        </p:nvSpPr>
        <p:spPr>
          <a:xfrm>
            <a:off x="12088368" y="950976"/>
            <a:ext cx="4572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10" b="0">
                <a:solidFill>
                  <a:srgbClr val="FFCD82"/>
                </a:solidFill>
                <a:latin typeface="Agrandir Bold"/>
              </a:rPr>
              <a:t>Proof, not promises. </a:t>
            </a:r>
            <a:r>
              <a:rPr sz="1610" b="0">
                <a:solidFill>
                  <a:srgbClr val="FFFFFF"/>
                </a:solidFill>
                <a:latin typeface="Agrandir"/>
              </a:rPr>
              <a:t>Four findings from the real app, each backed by a re-run.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" y="2487168"/>
            <a:ext cx="17007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240" b="0">
                <a:solidFill>
                  <a:srgbClr val="003470"/>
                </a:solidFill>
                <a:latin typeface="Agrandir Bold"/>
              </a:rPr>
              <a:t>Screens from the sample reproducibility report: each one is a re-run, not an opinion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3" y="3008376"/>
            <a:ext cx="5951728" cy="33101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at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63240"/>
            <a:ext cx="5842000" cy="3200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" y="6391655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Why C1 fails: one config value explains 96% of the gap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72600" y="3008376"/>
            <a:ext cx="7136859" cy="33101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leak_crop42x1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7464" y="3063240"/>
            <a:ext cx="7027131" cy="3200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2600" y="6391655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Why C5 cannot be trusted: the leak, the patch, the drop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3" y="6848856"/>
            <a:ext cx="7872922" cy="2624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r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6903720"/>
            <a:ext cx="7763194" cy="25146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3504" y="9546336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Why C7 is fragile: 15 of 30 conditions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72600" y="6848856"/>
            <a:ext cx="5486224" cy="26243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eal_crop100x6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7464" y="6903720"/>
            <a:ext cx="5376496" cy="2514600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15069136" y="6848856"/>
            <a:ext cx="2578783" cy="2624328"/>
          </a:xfrm>
          <a:prstGeom prst="roundRect">
            <a:avLst>
              <a:gd name="adj" fmla="val 6000"/>
            </a:avLst>
          </a:prstGeom>
          <a:solidFill>
            <a:srgbClr val="003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270304" y="7013448"/>
            <a:ext cx="2213023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820" b="0">
                <a:solidFill>
                  <a:srgbClr val="FFCD82"/>
                </a:solidFill>
                <a:latin typeface="Agrandir Bold"/>
              </a:rPr>
              <a:t>Real paper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FFFFFF"/>
                </a:solidFill>
                <a:latin typeface="Agrandir"/>
              </a:rPr>
              <a:t>Street, Wolberg &amp; Mangasarian, 1993.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40" b="0">
                <a:solidFill>
                  <a:srgbClr val="FFFFFF"/>
                </a:solidFill>
                <a:latin typeface="Agrandir"/>
              </a:rPr>
              <a:t>The authors released no code, so the repo is our reproduction.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72600" y="9546336"/>
            <a:ext cx="8275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80" b="0">
                <a:solidFill>
                  <a:srgbClr val="003470"/>
                </a:solidFill>
                <a:latin typeface="Agrandir Bold"/>
              </a:rPr>
              <a:t>A real paper: one claim exact, one optimistic, and the paper's own reason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</Words>
  <Application>Microsoft Office PowerPoint</Application>
  <PresentationFormat>Custom</PresentationFormat>
  <Paragraphs>64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9" baseType="lpstr">
      <vt:lpstr>Agrandir Bold</vt:lpstr>
      <vt:lpstr>Agrandir</vt:lpstr>
      <vt:lpstr>Arial</vt:lpstr>
      <vt:lpstr>Horizon</vt:lpstr>
      <vt:lpstr>Bebas Neue</vt:lpstr>
      <vt:lpstr>Agrandir Medium</vt:lpstr>
      <vt:lpstr>Calibri</vt:lpstr>
      <vt:lpstr>Now Medium</vt:lpstr>
      <vt:lpstr>Anton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Elevate 1.0 Template</dc:title>
  <dc:creator>sam</dc:creator>
  <cp:lastModifiedBy>Milind Bhirud</cp:lastModifiedBy>
  <cp:revision>1</cp:revision>
  <dcterms:created xsi:type="dcterms:W3CDTF">2006-08-16T00:00:00Z</dcterms:created>
  <dcterms:modified xsi:type="dcterms:W3CDTF">2026-09-17T12:58:53Z</dcterms:modified>
  <dc:identifier>DAHVYH0ZRyA</dc:identifier>
</cp:coreProperties>
</file>