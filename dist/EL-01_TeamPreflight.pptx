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22"/>
  </p:sldIdLst>
  <p:sldSz cx="18288000" cy="10287000"/>
  <p:notesSz cx="6858000" cy="9144000"/>
  <p:embeddedFontLst>
    <p:embeddedFont>
      <p:font typeface="Agrandir" panose="020B0604020202020204" charset="0"/>
      <p:regular r:id="rId11"/>
    </p:embeddedFont>
    <p:embeddedFont>
      <p:font typeface="Agrandir Bold" panose="020B0604020202020204" charset="0"/>
      <p:regular r:id="rId12"/>
    </p:embeddedFont>
    <p:embeddedFont>
      <p:font typeface="Agrandir Medium" panose="020B0604020202020204" charset="0"/>
      <p:regular r:id="rId13"/>
    </p:embeddedFont>
    <p:embeddedFont>
      <p:font typeface="Anton" pitchFamily="2" charset="0"/>
      <p:regular r:id="rId14"/>
    </p:embeddedFont>
    <p:embeddedFont>
      <p:font typeface="Bebas Neue" panose="020B0606020202050201" pitchFamily="34" charset="0"/>
      <p:regular r:id="rId15"/>
    </p:embeddedFont>
    <p:embeddedFont>
      <p:font typeface="Horizon" panose="020B0604020202020204" charset="0"/>
      <p:regular r:id="rId16"/>
    </p:embeddedFont>
    <p:embeddedFont>
      <p:font typeface="Now Medium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900" y="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Preflight answers one question for any ML paper: should you believe it? It re-runs every reported number and explains every gap with a re-run,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 from paper to verdict to why. The table maps every objective in the problem statement to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Python engine, three runtimes: the browser via Pyodide, a CLI, and a FastAPI server with Docker workers. The LLM only reads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competitor stops at whether. We go to why, and to whether a passing number deserves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on this slide are measured. Paper C takes about a minute in the browser because it tunes an SVM 12 ways per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scaling story is unusual: compute moves to the visitor's browser by default, and the server path is a classic queue plus workers with a content-hash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measured. The competitor numbers come from their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screenshots of the real app. The full report exports as Markdown and JSON with run hashes.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8.png"/><Relationship Id="rId9" Type="http://schemas.openxmlformats.org/officeDocument/2006/relationships/hyperlink" Target="https://preflight-el01.github.io/preflight/" TargetMode="External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hyperlink" Target="https://preflight-el01.github.io/preflight/#paper_a-claims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flight-el01.github.io/preflight/#paper_a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flight-el01.github.io/preflight/" TargetMode="External"/><Relationship Id="rId4" Type="http://schemas.openxmlformats.org/officeDocument/2006/relationships/hyperlink" Target="https://github.com/preflight-el01/preflight" TargetMode="External"/><Relationship Id="rId5" Type="http://schemas.openxmlformats.org/officeDocument/2006/relationships/hyperlink" Target="https://preflight-el01.github.io/preflight/preflight-demo.mp4" TargetMode="External"/><Relationship Id="rId6" Type="http://schemas.openxmlformats.org/officeDocument/2006/relationships/hyperlink" Target="https://preflight-el01.github.io/preflight/preflight-test-kit.zip" TargetMode="External"/><Relationship Id="rId7" Type="http://schemas.openxmlformats.org/officeDocument/2006/relationships/image" Target="../media/image8.png"/><Relationship Id="rId8" Type="http://schemas.openxmlformats.org/officeDocument/2006/relationships/hyperlink" Target="https://preflight-el01.github.io/preflight/#tour" TargetMode="External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hyperlink" Target="https://preflight-el01.github.io/preflight/#paper_a-C1" TargetMode="External"/><Relationship Id="rId5" Type="http://schemas.openxmlformats.org/officeDocument/2006/relationships/image" Target="../media/image12.png"/><Relationship Id="rId6" Type="http://schemas.openxmlformats.org/officeDocument/2006/relationships/hyperlink" Target="https://preflight-el01.github.io/preflight/#paper_a-C5" TargetMode="External"/><Relationship Id="rId7" Type="http://schemas.openxmlformats.org/officeDocument/2006/relationships/image" Target="../media/image13.png"/><Relationship Id="rId8" Type="http://schemas.openxmlformats.org/officeDocument/2006/relationships/hyperlink" Target="https://preflight-el01.github.io/preflight/#paper_a-C7" TargetMode="External"/><Relationship Id="rId9" Type="http://schemas.openxmlformats.org/officeDocument/2006/relationships/image" Target="../media/image14.png"/><Relationship Id="rId10" Type="http://schemas.openxmlformats.org/officeDocument/2006/relationships/hyperlink" Target="https://preflight-el01.github.io/preflight/#paper_r" TargetMode="External"/><Relationship Id="rId11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25915" y="-1272977"/>
            <a:ext cx="19113915" cy="11559977"/>
          </a:xfrm>
          <a:custGeom>
            <a:avLst/>
            <a:gdLst/>
            <a:ahLst/>
            <a:cxnLst/>
            <a:rect l="l" t="t" r="r" b="b"/>
            <a:pathLst>
              <a:path w="19113915" h="11559977">
                <a:moveTo>
                  <a:pt x="0" y="0"/>
                </a:moveTo>
                <a:lnTo>
                  <a:pt x="19113915" y="0"/>
                </a:lnTo>
                <a:lnTo>
                  <a:pt x="19113915" y="11559977"/>
                </a:lnTo>
                <a:lnTo>
                  <a:pt x="0" y="11559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730" r="-373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194361" y="247504"/>
            <a:ext cx="2343715" cy="1046334"/>
            <a:chOff x="0" y="0"/>
            <a:chExt cx="3124953" cy="139511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0396" cy="1395113"/>
            </a:xfrm>
            <a:custGeom>
              <a:avLst/>
              <a:gdLst/>
              <a:ahLst/>
              <a:cxnLst/>
              <a:rect l="l" t="t" r="r" b="b"/>
              <a:pathLst>
                <a:path w="1110396" h="1395113">
                  <a:moveTo>
                    <a:pt x="0" y="0"/>
                  </a:moveTo>
                  <a:lnTo>
                    <a:pt x="1110396" y="0"/>
                  </a:lnTo>
                  <a:lnTo>
                    <a:pt x="1110396" y="1395113"/>
                  </a:lnTo>
                  <a:lnTo>
                    <a:pt x="0" y="1395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1120873" y="92133"/>
              <a:ext cx="2004079" cy="8694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62"/>
                </a:lnSpc>
              </a:pPr>
              <a:r>
                <a:rPr lang="en-US" sz="1539" b="1">
                  <a:solidFill>
                    <a:srgbClr val="FFFFFF"/>
                  </a:solidFill>
                  <a:latin typeface="Now Medium"/>
                  <a:ea typeface="Now Medium"/>
                  <a:cs typeface="Now Medium"/>
                  <a:sym typeface="Now Medium"/>
                </a:rPr>
                <a:t>INSTITUTION'S INNOVATION COUNCIL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20873" y="1011585"/>
              <a:ext cx="924960" cy="254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07"/>
                </a:lnSpc>
              </a:pPr>
              <a:r>
                <a:rPr lang="en-US" sz="1303" b="1">
                  <a:solidFill>
                    <a:srgbClr val="FF914D"/>
                  </a:solidFill>
                  <a:latin typeface="Now Medium"/>
                  <a:ea typeface="Now Medium"/>
                  <a:cs typeface="Now Medium"/>
                  <a:sym typeface="Now Medium"/>
                </a:rPr>
                <a:t>DJSCE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1103757" y="9307013"/>
            <a:ext cx="524923" cy="880803"/>
          </a:xfrm>
          <a:custGeom>
            <a:avLst/>
            <a:gdLst/>
            <a:ahLst/>
            <a:cxnLst/>
            <a:rect l="l" t="t" r="r" b="b"/>
            <a:pathLst>
              <a:path w="524923" h="880803">
                <a:moveTo>
                  <a:pt x="0" y="0"/>
                </a:moveTo>
                <a:lnTo>
                  <a:pt x="524923" y="0"/>
                </a:lnTo>
                <a:lnTo>
                  <a:pt x="524923" y="880803"/>
                </a:lnTo>
                <a:lnTo>
                  <a:pt x="0" y="880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p/>
        </p:txBody>
      </p:sp>
      <p:grpSp>
        <p:nvGrpSpPr>
          <p:cNvPr id="8" name="Group 8"/>
          <p:cNvGrpSpPr/>
          <p:nvPr/>
        </p:nvGrpSpPr>
        <p:grpSpPr>
          <a:xfrm>
            <a:off x="1778704" y="5596150"/>
            <a:ext cx="7850808" cy="1419500"/>
            <a:chOff x="0" y="0"/>
            <a:chExt cx="13226375" cy="23914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1778704" y="7302306"/>
            <a:ext cx="7850808" cy="1419500"/>
            <a:chOff x="0" y="0"/>
            <a:chExt cx="13226375" cy="23914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0049754" y="5610575"/>
            <a:ext cx="6459542" cy="3111230"/>
            <a:chOff x="0" y="0"/>
            <a:chExt cx="10882489" cy="524153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882476" cy="5241513"/>
            </a:xfrm>
            <a:custGeom>
              <a:avLst/>
              <a:gdLst/>
              <a:ahLst/>
              <a:cxnLst/>
              <a:rect l="l" t="t" r="r" b="b"/>
              <a:pathLst>
                <a:path w="10882476" h="5241513">
                  <a:moveTo>
                    <a:pt x="0" y="762298"/>
                  </a:moveTo>
                  <a:cubicBezTo>
                    <a:pt x="0" y="341367"/>
                    <a:pt x="190171" y="0"/>
                    <a:pt x="424666" y="0"/>
                  </a:cubicBezTo>
                  <a:lnTo>
                    <a:pt x="10457810" y="0"/>
                  </a:lnTo>
                  <a:cubicBezTo>
                    <a:pt x="10692437" y="0"/>
                    <a:pt x="10882476" y="341367"/>
                    <a:pt x="10882476" y="762298"/>
                  </a:cubicBezTo>
                  <a:lnTo>
                    <a:pt x="10882476" y="4479215"/>
                  </a:lnTo>
                  <a:cubicBezTo>
                    <a:pt x="10882476" y="4900385"/>
                    <a:pt x="10692305" y="5241513"/>
                    <a:pt x="10457810" y="5241513"/>
                  </a:cubicBezTo>
                  <a:lnTo>
                    <a:pt x="424666" y="5241513"/>
                  </a:lnTo>
                  <a:cubicBezTo>
                    <a:pt x="190038" y="5241513"/>
                    <a:pt x="0" y="4900147"/>
                    <a:pt x="0" y="4479215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sp>
        <p:nvSpPr>
          <p:cNvPr id="14" name="Freeform 14"/>
          <p:cNvSpPr/>
          <p:nvPr/>
        </p:nvSpPr>
        <p:spPr>
          <a:xfrm>
            <a:off x="113722" y="9330363"/>
            <a:ext cx="923360" cy="834102"/>
          </a:xfrm>
          <a:custGeom>
            <a:avLst/>
            <a:gdLst/>
            <a:ahLst/>
            <a:cxnLst/>
            <a:rect l="l" t="t" r="r" b="b"/>
            <a:pathLst>
              <a:path w="923360" h="834102">
                <a:moveTo>
                  <a:pt x="0" y="0"/>
                </a:moveTo>
                <a:lnTo>
                  <a:pt x="923360" y="0"/>
                </a:lnTo>
                <a:lnTo>
                  <a:pt x="923360" y="834102"/>
                </a:lnTo>
                <a:lnTo>
                  <a:pt x="0" y="8341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1695355" y="9418040"/>
            <a:ext cx="4859916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83"/>
              </a:lnSpc>
            </a:pPr>
            <a:r>
              <a:rPr lang="en-US" sz="2100" spc="29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DWARKADAS J SANGHVI COLLEGE OF ENGINEERING, VILE PARLE(W)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55620" y="5953475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Team Name: </a:t>
            </a:r>
            <a:r>
              <a:rPr sz="2600">
                <a:solidFill>
                  <a:srgbClr val="003470"/>
                </a:solidFill>
                <a:latin typeface="Agrandir"/>
              </a:rPr>
              <a:t>Team Preflight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55620" y="7940755"/>
            <a:ext cx="758952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Name :</a:t>
            </a:r>
            <a:r>
              <a:rPr sz="1900">
                <a:solidFill>
                  <a:srgbClr val="003470"/>
                </a:solidFill>
                <a:latin typeface="Agrandir"/>
              </a:rPr>
              <a:t> AI-Powered ML Paper Reproducibility Platform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55620" y="7431031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ID :</a:t>
            </a:r>
            <a:r>
              <a:rPr sz="2600">
                <a:solidFill>
                  <a:srgbClr val="003470"/>
                </a:solidFill>
                <a:latin typeface="Agrandir"/>
              </a:rPr>
              <a:t> EL-01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307916" y="5724875"/>
            <a:ext cx="230753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Abstract :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0194" y="0"/>
            <a:ext cx="2720741" cy="1317816"/>
            <a:chOff x="0" y="0"/>
            <a:chExt cx="3627654" cy="17570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758552" cy="1757088"/>
            </a:xfrm>
            <a:custGeom>
              <a:avLst/>
              <a:gdLst/>
              <a:ahLst/>
              <a:cxnLst/>
              <a:rect l="l" t="t" r="r" b="b"/>
              <a:pathLst>
                <a:path w="1758552" h="1757088">
                  <a:moveTo>
                    <a:pt x="0" y="0"/>
                  </a:moveTo>
                  <a:lnTo>
                    <a:pt x="1758552" y="0"/>
                  </a:lnTo>
                  <a:lnTo>
                    <a:pt x="1758552" y="1757088"/>
                  </a:lnTo>
                  <a:lnTo>
                    <a:pt x="0" y="17570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>
              <a:off x="2252616" y="192744"/>
              <a:ext cx="1375038" cy="1371600"/>
            </a:xfrm>
            <a:custGeom>
              <a:avLst/>
              <a:gdLst/>
              <a:ahLst/>
              <a:cxnLst/>
              <a:rect l="l" t="t" r="r" b="b"/>
              <a:pathLst>
                <a:path w="1375038" h="1371600">
                  <a:moveTo>
                    <a:pt x="0" y="0"/>
                  </a:moveTo>
                  <a:lnTo>
                    <a:pt x="1375038" y="0"/>
                  </a:lnTo>
                  <a:lnTo>
                    <a:pt x="1375038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1758552" y="681902"/>
              <a:ext cx="254692" cy="345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70"/>
                </a:lnSpc>
              </a:pPr>
              <a:r>
                <a:rPr lang="en-US" sz="1478">
                  <a:solidFill>
                    <a:srgbClr val="FFCD82"/>
                  </a:solidFill>
                  <a:latin typeface="Horizon"/>
                  <a:ea typeface="Horizon"/>
                  <a:cs typeface="Horizon"/>
                  <a:sym typeface="Horizon"/>
                </a:rPr>
                <a:t>x</a:t>
              </a:r>
            </a:p>
          </p:txBody>
        </p:sp>
      </p:grpSp>
      <p:sp>
        <p:nvSpPr>
          <p:cNvPr id="24" name="Product line"/>
          <p:cNvSpPr txBox="1"/>
          <p:nvPr/>
        </p:nvSpPr>
        <p:spPr>
          <a:xfrm>
            <a:off x="1956816" y="64373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Product: </a:t>
            </a:r>
            <a:r>
              <a:rPr sz="2100" b="0">
                <a:solidFill>
                  <a:srgbClr val="003470"/>
                </a:solidFill>
                <a:latin typeface="Agrandir"/>
              </a:rPr>
              <a:t>Preflight. Should you believe this ML paper?</a:t>
            </a:r>
          </a:p>
        </p:txBody>
      </p:sp>
      <p:sp>
        <p:nvSpPr>
          <p:cNvPr id="25" name="Abstract text"/>
          <p:cNvSpPr txBox="1"/>
          <p:nvPr/>
        </p:nvSpPr>
        <p:spPr>
          <a:xfrm>
            <a:off x="10305288" y="6309360"/>
            <a:ext cx="43434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Preflight</a:t>
            </a:r>
            <a:r>
              <a:rPr sz="1510" b="0">
                <a:solidFill>
                  <a:srgbClr val="003470"/>
                </a:solidFill>
                <a:latin typeface="Agrandir"/>
              </a:rPr>
              <a:t> re-runs every number in an ML paper over ten seeds, explains each gap with a counterfactual re-run, and flags results inflated by leakage, unfair baselines, wrong metrics or lucky seeds.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Claude reads the paper; re-runs decide. </a:t>
            </a:r>
            <a:r>
              <a:rPr sz="1510" b="0">
                <a:solidFill>
                  <a:srgbClr val="003470"/>
                </a:solidFill>
                <a:latin typeface="Agrandir"/>
              </a:rPr>
              <a:t>13/13 planted issues caught, 0 false alarms.</a:t>
            </a:r>
          </a:p>
        </p:txBody>
      </p:sp>
      <p:pic>
        <p:nvPicPr>
          <p:cNvPr id="26" name="Picture 25" descr="qr_demo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13280" y="6355080"/>
            <a:ext cx="1463040" cy="1463040"/>
          </a:xfrm>
          <a:prstGeom prst="rect">
            <a:avLst/>
          </a:prstGeom>
        </p:spPr>
      </p:pic>
      <p:sp>
        <p:nvSpPr>
          <p:cNvPr id="27" name="TextBox 26">
            <a:hlinkClick r:id="rId9"/>
          </p:cNvPr>
          <p:cNvSpPr txBox="1"/>
          <p:nvPr/>
        </p:nvSpPr>
        <p:spPr>
          <a:xfrm>
            <a:off x="14401800" y="788212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40" b="0" u="sng">
                <a:solidFill>
                  <a:srgbClr val="003470"/>
                </a:solidFill>
                <a:latin typeface="Agrandir Bold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4" name="AutoShape 4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5" name="AutoShape 5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39"/>
              </a:lnSpc>
            </a:pPr>
            <a:r>
              <a:rPr lang="en-US" sz="7699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PROPOSED SOLUTION</a:t>
            </a:r>
          </a:p>
        </p:txBody>
      </p:sp>
      <p:sp>
        <p:nvSpPr>
          <p:cNvPr id="1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Reproducing is not enough. </a:t>
            </a:r>
            <a:r>
              <a:rPr sz="1610" b="0">
                <a:solidFill>
                  <a:srgbClr val="FFFFFF"/>
                </a:solidFill>
                <a:latin typeface="Agrandir"/>
              </a:rPr>
              <a:t>We show whether to believe a result, and prove it with a re-run.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50592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FF914D"/>
                </a:solidFill>
                <a:latin typeface="Agrandir Bold"/>
              </a:rPr>
              <a:t>The problem: </a:t>
            </a:r>
            <a:r>
              <a:rPr sz="1820" b="0">
                <a:solidFill>
                  <a:srgbClr val="003470"/>
                </a:solidFill>
                <a:latin typeface="Agrandir"/>
              </a:rPr>
              <a:t>ML results can reproduce and still mislead: leaked test data, untuned baselines, lucky seeds.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Today's tools </a:t>
            </a:r>
            <a:r>
              <a:rPr sz="1820" b="0">
                <a:solidFill>
                  <a:srgbClr val="003470"/>
                </a:solidFill>
                <a:latin typeface="Agrandir"/>
              </a:rPr>
              <a:t>stop at “does it run?”. Preflight asks “should you believe it?”</a:t>
            </a:r>
          </a:p>
        </p:txBody>
      </p:sp>
      <p:sp>
        <p:nvSpPr>
          <p:cNvPr id="16" name="Step 1"/>
          <p:cNvSpPr/>
          <p:nvPr/>
        </p:nvSpPr>
        <p:spPr>
          <a:xfrm>
            <a:off x="603504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6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Paper + 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PDF read by Claude; repo by folder or GitHub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59736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 2"/>
          <p:cNvSpPr/>
          <p:nvPr/>
        </p:nvSpPr>
        <p:spPr>
          <a:xfrm>
            <a:off x="2724912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889504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Claims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every table cell and comparison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81144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tep 3"/>
          <p:cNvSpPr/>
          <p:nvPr/>
        </p:nvSpPr>
        <p:spPr>
          <a:xfrm>
            <a:off x="4846320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10912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sandboxed, over 10 seeds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02552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tep 4"/>
          <p:cNvSpPr/>
          <p:nvPr/>
        </p:nvSpPr>
        <p:spPr>
          <a:xfrm>
            <a:off x="6967727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32319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19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Verdicts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9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four levels, seed-aware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23959" y="4480560"/>
            <a:ext cx="237745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tep 5"/>
          <p:cNvSpPr/>
          <p:nvPr/>
        </p:nvSpPr>
        <p:spPr>
          <a:xfrm>
            <a:off x="9089136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253728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Why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re-runs that explain each gap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3504" y="5687568"/>
          <a:ext cx="103327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6400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EL-01 asks for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Preflight does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Understand the methodology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AI reader extracts claims and stated settings; you confirm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Find the implementation and config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README, config and AST mapping down to file:line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Execute in a controlled environment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Sandbox: browser WASM, subprocess or Docker; 10 seeds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Compare with reported results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Seed-aware verdict with a k-seed tolerance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Explain why results differ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Shapley gap attribution and missing-detail inference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Go beyond code exists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Leakage, metric, fair-baseline and fragility re-runs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Evidence-backed, per experiment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Claim Ledger: table cell, code line, command, log, hash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Lightweight CPU-only papers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CPU triage: full, scaled or untestable, with the reason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41" name="Rounded Rectangle 40"/>
          <p:cNvSpPr/>
          <p:nvPr/>
        </p:nvSpPr>
        <p:spPr>
          <a:xfrm>
            <a:off x="11420856" y="2487168"/>
            <a:ext cx="6281928" cy="53628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claims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542032"/>
            <a:ext cx="6172200" cy="525307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75720" y="7923126"/>
            <a:ext cx="6172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Claim Ledger for Paper A: every number, its verdict and its cause</a:t>
            </a:r>
          </a:p>
        </p:txBody>
      </p:sp>
      <p:sp>
        <p:nvSpPr>
          <p:cNvPr id="44" name="TextBox 43">
            <a:hlinkClick r:id="rId4"/>
          </p:cNvPr>
          <p:cNvSpPr txBox="1"/>
          <p:nvPr/>
        </p:nvSpPr>
        <p:spPr>
          <a:xfrm>
            <a:off x="11475720" y="8362038"/>
            <a:ext cx="6172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FF914D"/>
                </a:solidFill>
                <a:latin typeface="Agrandir Bol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this ledger live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TECHNICAL APPROACH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Rounded Rectangle 12"/>
          <p:cNvSpPr/>
          <p:nvPr/>
        </p:nvSpPr>
        <p:spPr>
          <a:xfrm>
            <a:off x="6035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CD82">
              <a:alpha val="95000"/>
            </a:srgbClr>
          </a:solidFill>
          <a:ln w="15875">
            <a:solidFill>
              <a:srgbClr val="FF91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AI paper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Claude Opus 5.5 · PDF → claims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954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8386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102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Parse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tables, settings, comparisons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6422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0138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Map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README · config · AST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70263" y="2999232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4458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8174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CPU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full / scaled / untestable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5062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212494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26210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Static audit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6210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diff · leakage · metric · budget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4730984" y="2999232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50053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5142463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142463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sandbox · 10 seeds · self-heal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066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Compare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k-seed tolerance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0954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8386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62102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Attribute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Shapley over re-runs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8990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36422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50138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Infer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GRIM + sweep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70263" y="4242816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24458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38174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Validity re-runs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leak · dupes · metric · baseline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85062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212494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226210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Fragility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6210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seeds · splits · ±10%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4730984" y="4242816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50053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5142463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Report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142463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ledger · card · issues · badge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6294608" y="3511296"/>
            <a:ext cx="0" cy="109728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892807" y="3621024"/>
            <a:ext cx="14401801" cy="0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92807" y="3621024"/>
            <a:ext cx="0" cy="109728"/>
          </a:xfrm>
          <a:prstGeom prst="line">
            <a:avLst/>
          </a:prstGeom>
          <a:ln w="25400">
            <a:solidFill>
              <a:srgbClr val="6A7A9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6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One AI step.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Everything after it is deterministic, sandboxed and repeatable.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4864608"/>
            <a:ext cx="1700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914D"/>
                </a:solidFill>
                <a:latin typeface="Agrandir Bold"/>
              </a:rPr>
              <a:t>Dashed = the only AI step (claim extraction, checked by a person). </a:t>
            </a:r>
            <a:r>
              <a:rPr sz="1610" b="0">
                <a:solidFill>
                  <a:srgbClr val="003470"/>
                </a:solidFill>
                <a:latin typeface="Agrandir"/>
              </a:rPr>
              <a:t>Everything after it is deterministic: static analysis, sandboxed execution, statistics and counterfactual re-runs.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4672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Verdict rule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tol = max(2σ/√k, 0.5 pt)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k = seeds paper averaged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Partial: ≤ 3σ/√k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   or a scaled run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28616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129783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Gap attribution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9783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φᵢ = Σ |S|!(n−|S|−1)!/n!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· [v(S∪{i}) − v(S)]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v(S): 10-seed mean,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S set to paper values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53728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454896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Sandbox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54896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fresh repo copy, hashed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seed set at the code's seed site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Docker: no network, CPU/RAM caps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probe: fits, splits, row hashes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578839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3780007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Stack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780007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Python 3.14 · scikit-learn 1.8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Pyodide (WASM), Web Worker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FastAPI · queue · Docker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Claude Opus 5.5, JSON output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3" y="8586215"/>
            <a:ext cx="14923008" cy="15360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f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8641080"/>
            <a:ext cx="14813280" cy="142627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5681959" y="8686800"/>
            <a:ext cx="1965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The same 11 stages, live in the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INNOVATION AND UNIQUENESS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Others say whether. </a:t>
            </a:r>
            <a:r>
              <a:rPr sz="1610" b="0">
                <a:solidFill>
                  <a:srgbClr val="FFFFFF"/>
                </a:solidFill>
                <a:latin typeface="Agrandir"/>
              </a:rPr>
              <a:t>Preflight shows why, and catches results that reproduce but mislead.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03504" y="2542032"/>
          <a:ext cx="10607953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31720"/>
                <a:gridCol w="1182319"/>
                <a:gridCol w="1182319"/>
                <a:gridCol w="1182319"/>
                <a:gridCol w="1182319"/>
                <a:gridCol w="1182319"/>
                <a:gridCol w="1182319"/>
                <a:gridCol w="11823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Runs code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Per-claim verdict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Explains why (re-run)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Leakage check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Fragility / seeds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False-alarm control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Metric &amp; baseline audit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VERITAS (2026)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CORE-Bench agents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REPRO-Bench agents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Code Ocean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SciCoQA / Dude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LLM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Preflight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Re-run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03504" y="67665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30" b="0">
                <a:solidFill>
                  <a:srgbClr val="6A7A90"/>
                </a:solidFill>
                <a:latin typeface="Agrandir"/>
              </a:rPr>
              <a:t>Based on each tool's published description. Partly: covers part of the column.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7223760"/>
            <a:ext cx="10607040" cy="269748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7360920"/>
            <a:ext cx="100584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“How is this different from VERITAS?” 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"/>
              </a:rPr>
              <a:t>VERITAS tells you whether a claim replicates. Preflight tells you why it failed, whether a passing result is inflated, and how fragile it is, and backs each finding with a counterfactual re-run.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Original: </a:t>
            </a:r>
            <a:r>
              <a:rPr sz="1820" b="0">
                <a:solidFill>
                  <a:srgbClr val="003470"/>
                </a:solidFill>
                <a:latin typeface="Agrandir"/>
              </a:rPr>
              <a:t>a GRIM check rules out split ratios that cannot produce the reported accuracy before anything runs; seeds are injected at the code's own seed site; every flag must survive a re-run (Dude's false-positive problem).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58600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841480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0A7A51"/>
                </a:solidFill>
                <a:latin typeface="Anton"/>
              </a:rPr>
              <a:t>96%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41480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of a 2.46-pt gap explained by one config value (C), via Shapley re-runs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94408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877288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C52F3B"/>
                </a:solidFill>
                <a:latin typeface="Anton"/>
              </a:rPr>
              <a:t>−28.8 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77288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result that reproduces, but only because feature selection saw the test 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58600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841480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360" b="0">
                <a:solidFill>
                  <a:srgbClr val="C52F3B"/>
                </a:solidFill>
                <a:latin typeface="Anton"/>
              </a:rPr>
              <a:t>+1.52 → −0.56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41480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claimed win that flips once the baseline gets the same tuning budget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94408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4877288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A06200"/>
                </a:solidFill>
                <a:latin typeface="Anton"/>
              </a:rPr>
              <a:t>15 / 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77288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conditions where “significantly outperforms” still 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658600" y="7269480"/>
            <a:ext cx="5888736" cy="260604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1932920" y="745236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6440" b="0">
                <a:solidFill>
                  <a:srgbClr val="FFCD82"/>
                </a:solidFill>
                <a:latin typeface="Anton"/>
              </a:rPr>
              <a:t>13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32920" y="84124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planted issues caught across the test papers, with 0 false alarms on the clean control. One real 1993 paper audited end to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FEASIBILITY AND VIABILITY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Built and running today.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 demo audit finishes within a minute, on a CPU, in the browser.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Every demo audit runs on a CPU in seconds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" y="2971800"/>
          <a:ext cx="822960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417320"/>
                <a:gridCol w="1143000"/>
                <a:gridCol w="1325880"/>
                <a:gridCol w="1325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Paper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Sandboxed runs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From cache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CPU-s (laptop)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Live in browser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A · planted (7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94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3.7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B · clean control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1.5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2.6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C · planted (6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151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24.4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55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R · real, Street et al. 1993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49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8.6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13.3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03504" y="53218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>
                <a:solidFill>
                  <a:srgbClr val="6A7A90"/>
                </a:solidFill>
                <a:latin typeface="Agrandir"/>
              </a:rPr>
              <a:t>Browser: Pyodide 314.0.7 in Chrome. Live and recorded runs match exactly.</a:t>
            </a:r>
          </a:p>
        </p:txBody>
      </p:sp>
      <p:sp>
        <p:nvSpPr>
          <p:cNvPr id="19" name="TextBox 18">
            <a:hlinkClick r:id="rId3"/>
          </p:cNvPr>
          <p:cNvSpPr txBox="1"/>
          <p:nvPr/>
        </p:nvSpPr>
        <p:spPr>
          <a:xfrm>
            <a:off x="4480560" y="2542032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610" b="0" u="sng">
                <a:solidFill>
                  <a:srgbClr val="FF914D"/>
                </a:solidFill>
                <a:latin typeface="Agrandir Bol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Paper A live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583387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Risks and mitigations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" y="6355080"/>
          <a:ext cx="822960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54864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Risk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Mitigation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PDF tables misread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Claude with a JSON schema, then a person confirms the claims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LLM hallucination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LLM only extracts; every finding is a re-run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Repo breaks on new libraries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self-heal rules, patch shown, logged as impediment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Experiment too big for CPU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triage: scale rows to the RAM budget, verdict ≤ Partial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Hostile code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Docker: no network, CPU/RAM/PID caps, read-only root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Venue wifi fails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recorded replay, labelled as recorded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418320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Three ways to deploy, one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3017520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46920" y="3154679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Browser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50040" y="3154679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Pyodide in a Web Worker. Zero server cost, nothing leaves the laptop. Works today.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4224528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46920" y="436168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50040" y="436168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FastAPI, job queue, one Docker container per run, result cache by content hash. Tested.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5431536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46920" y="556869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CI / author 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50040" y="5568696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The CLI writes a GitHub Action that re-audits on every push, plus a README badge.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6720840"/>
            <a:ext cx="8229600" cy="315468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0" y="6903720"/>
            <a:ext cx="76809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380" b="0">
                <a:solidFill>
                  <a:srgbClr val="FFCD82"/>
                </a:solidFill>
                <a:latin typeface="Agrandir Bold"/>
              </a:rPr>
              <a:t>Sustainability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Open-source core (MIT) so labs can self-host and trust the checks.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Hosted tier for conferences and journals: batch audits of artifact submissions, badge issuing, reviewer reports.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Compute cost scales with papers audited, and small papers cost nothing because they run in the visitor's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IMPACT AND SCALING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Success is cheap. </a:t>
            </a:r>
            <a:r>
              <a:rPr sz="1610" b="0">
                <a:solidFill>
                  <a:srgbClr val="FFFFFF"/>
                </a:solidFill>
                <a:latin typeface="Agrandir"/>
              </a:rPr>
              <a:t>Audits run in the user's browser, so 10× users is mostly static hosting.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Who it is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Reviewers &amp; repro chairs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triage artifact submissions in minutes, with evidence to cite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974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99262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Students &amp; MLRC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262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reproduce a paper for coursework and learn why it differs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638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ML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check a paper's claims before building on them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974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99262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Authors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262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pre-submission check and a README badge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Tested, not promised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" y="6812280"/>
            <a:ext cx="8229600" cy="3063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" y="6967728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13/13 planted issues caught, 0 false alarms (clean control: 0 findings)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11 automated tests: planted, clean, live edits, real paper, server API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Browser and laptop runs give identical numbers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Live edits re-audited: fixing C turns C1 green; a new scaler leak is caught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Server mode: HTTP submit, poll, idempotent cache, rate limits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Real 1993 paper: one claim exact, one flagged with the paper's own reason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2487168"/>
            <a:ext cx="8321040" cy="7388352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01200" y="267004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YC says yes tomorrow. </a:t>
            </a:r>
            <a:r>
              <a:rPr sz="2660" b="0">
                <a:solidFill>
                  <a:srgbClr val="FFFFFF"/>
                </a:solidFill>
                <a:latin typeface="Agrandir"/>
              </a:rPr>
              <a:t>Can it handle success next week?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7490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374903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Most audits run in the visitor's browser, so 10× traffic is mostly static file hosting.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75487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475487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Stateless API + queue; autoscaled Docker workers; one container per run.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760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Repeat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576072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Runs cached by hash of files, command and library versions; duplicate submissions are free.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676656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Breaks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76656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Per-run CPU, RAM, PID and time caps; network off; rate limit per client.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777240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Crashes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777240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Self-heal known API breaks; failed jobs keep their events; static audit still reports.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87782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Robustness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21440" y="877824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Idempotent jobs and retries; recorded replay if live compute is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RESEARCH AND REFERENCES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Still unsolved. </a:t>
            </a:r>
            <a:r>
              <a:rPr sz="1610" b="0">
                <a:solidFill>
                  <a:srgbClr val="FFFFFF"/>
                </a:solidFill>
                <a:latin typeface="Agrandir"/>
              </a:rPr>
              <a:t>Top agents replicate under a third of papers; top LLMs find under half the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21–27%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best agents on PaperBench vs 41% for ML PhDs: replication is still hard (OpenAI, 2025)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974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99262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46.7%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of real paper–code discrepancies found by the best LLMs (SciCoQA, ACL 2026)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638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294+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papers in 17 fields affected by leakage (Kapoor &amp; Narayanan, Patterns 2023)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974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9262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full replication by VERITAS after automated fixes; it reports whether, not why (arXiv 2607.02931)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812280"/>
            <a:ext cx="84124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Kapoor &amp; Narayanan. Leakage and the reproducibility crisis in ML-based science. Patterns,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Starace et al. PaperBench. OpenAI, 2025 · Siegel et al. CORE-Bench, 2024 · REPRO-Bench, ACL 2025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SciCoQA: paper–code alignment, ACL 2026 (arXiv 2601.12910) · Dude, arXiv 2609.03416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VERITAS: a general-purpose replication tool, arXiv 2607.02931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Brown &amp; Heathers. The GRIM test. Social Psychological and Personality Science, 2017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Pineau et al. ML Reproducibility Checklist, 2021 · Kapoor et al. REFORMS,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Street, Wolberg &amp; Mangasarian. Nuclear feature extraction for breast tumor diagnosis. SPIE, 1993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2542032"/>
            <a:ext cx="8275320" cy="434340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46920" y="272491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Try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3101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Live demo</a:t>
            </a:r>
          </a:p>
        </p:txBody>
      </p:sp>
      <p:sp>
        <p:nvSpPr>
          <p:cNvPr id="33" name="TextBox 32">
            <a:hlinkClick r:id="rId3"/>
          </p:cNvPr>
          <p:cNvSpPr txBox="1"/>
          <p:nvPr/>
        </p:nvSpPr>
        <p:spPr>
          <a:xfrm>
            <a:off x="11658600" y="334670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preflight-el01.github.io/preflight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931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Code (MIT)</a:t>
            </a:r>
          </a:p>
        </p:txBody>
      </p:sp>
      <p:sp>
        <p:nvSpPr>
          <p:cNvPr id="35" name="TextBox 34">
            <a:hlinkClick r:id="rId4"/>
          </p:cNvPr>
          <p:cNvSpPr txBox="1"/>
          <p:nvPr/>
        </p:nvSpPr>
        <p:spPr>
          <a:xfrm>
            <a:off x="11658600" y="3968496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github.com/preflight-el01/preflight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55371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Video</a:t>
            </a:r>
          </a:p>
        </p:txBody>
      </p:sp>
      <p:sp>
        <p:nvSpPr>
          <p:cNvPr id="37" name="TextBox 36">
            <a:hlinkClick r:id="rId5"/>
          </p:cNvPr>
          <p:cNvSpPr txBox="1"/>
          <p:nvPr/>
        </p:nvSpPr>
        <p:spPr>
          <a:xfrm>
            <a:off x="11658600" y="4590288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walkthrough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517550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Test kit</a:t>
            </a:r>
          </a:p>
        </p:txBody>
      </p:sp>
      <p:sp>
        <p:nvSpPr>
          <p:cNvPr id="39" name="TextBox 38">
            <a:hlinkClick r:id="rId6"/>
          </p:cNvPr>
          <p:cNvSpPr txBox="1"/>
          <p:nvPr/>
        </p:nvSpPr>
        <p:spPr>
          <a:xfrm>
            <a:off x="11658600" y="521208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test paper with planted bugs</a:t>
            </a:r>
          </a:p>
        </p:txBody>
      </p:sp>
      <p:pic>
        <p:nvPicPr>
          <p:cNvPr id="40" name="Picture 39" descr="qr_demo.png">
            <a:hlinkClick r:id="rId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10559" y="3246120"/>
            <a:ext cx="1508760" cy="1508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46920" y="59436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80" b="0">
                <a:solidFill>
                  <a:srgbClr val="FFFFFF"/>
                </a:solidFill>
                <a:latin typeface="Agrandir"/>
              </a:rPr>
              <a:t>In the app: press </a:t>
            </a:r>
            <a:r>
              <a:rPr sz="1680" b="0" u="sng">
                <a:solidFill>
                  <a:srgbClr val="FFCD82"/>
                </a:solidFill>
                <a:latin typeface="Agrandir Bold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Tour</a:t>
            </a:r>
            <a:r>
              <a:rPr sz="1680" b="0">
                <a:solidFill>
                  <a:srgbClr val="FFFFFF"/>
                </a:solidFill>
                <a:latin typeface="Agrandir"/>
              </a:rPr>
              <a:t> for a guided walkthrough, Ctrl K to search, Audit your own to upload a PDF.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72600" y="7086600"/>
            <a:ext cx="827532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646920" y="7242048"/>
            <a:ext cx="77724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Datasets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Bundled with scikit-learn: Wisconsin Diagnostic Breast Cancer (569 cases), Digits. Generated: SynthGene-2k, SynthMed, SynthHD, SynthKNN-Aug, SynthLarge-2M.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Papers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Three fictional test papers with an answer key (A, B, C) and one real paper (Street et al., 1993). Every number shown comes from a logged sandbox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LIVE PROOF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Proof, not promises. </a:t>
            </a:r>
            <a:r>
              <a:rPr sz="1610" b="0">
                <a:solidFill>
                  <a:srgbClr val="FFFFFF"/>
                </a:solidFill>
                <a:latin typeface="Agrandir"/>
              </a:rPr>
              <a:t>Four findings from the real app, each backed by a re-run.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1700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40" b="0">
                <a:solidFill>
                  <a:srgbClr val="003470"/>
                </a:solidFill>
                <a:latin typeface="Agrandir Bold"/>
              </a:rPr>
              <a:t>Each screen is a re-run, not an opinion. Click any one to open it live in the app.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3" y="3008376"/>
            <a:ext cx="5951728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att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63240"/>
            <a:ext cx="5842000" cy="3200400"/>
          </a:xfrm>
          <a:prstGeom prst="rect">
            <a:avLst/>
          </a:prstGeom>
        </p:spPr>
      </p:pic>
      <p:sp>
        <p:nvSpPr>
          <p:cNvPr id="19" name="TextBox 18">
            <a:hlinkClick r:id="rId4"/>
          </p:cNvPr>
          <p:cNvSpPr txBox="1"/>
          <p:nvPr/>
        </p:nvSpPr>
        <p:spPr>
          <a:xfrm>
            <a:off x="603504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C1 fails: one config value explains 96% of the gap 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3008376"/>
            <a:ext cx="7136859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eak_crop42x100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7464" y="3063240"/>
            <a:ext cx="7027131" cy="3200400"/>
          </a:xfrm>
          <a:prstGeom prst="rect">
            <a:avLst/>
          </a:prstGeom>
        </p:spPr>
      </p:pic>
      <p:sp>
        <p:nvSpPr>
          <p:cNvPr id="22" name="TextBox 21">
            <a:hlinkClick r:id="rId6"/>
          </p:cNvPr>
          <p:cNvSpPr txBox="1"/>
          <p:nvPr/>
        </p:nvSpPr>
        <p:spPr>
          <a:xfrm>
            <a:off x="9372600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C5 cannot be trusted: the leak, the patch, the drop 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3" y="6848856"/>
            <a:ext cx="7872922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rag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6903720"/>
            <a:ext cx="7763194" cy="2514600"/>
          </a:xfrm>
          <a:prstGeom prst="rect">
            <a:avLst/>
          </a:prstGeom>
        </p:spPr>
      </p:pic>
      <p:sp>
        <p:nvSpPr>
          <p:cNvPr id="25" name="TextBox 24">
            <a:hlinkClick r:id="rId8"/>
          </p:cNvPr>
          <p:cNvSpPr txBox="1"/>
          <p:nvPr/>
        </p:nvSpPr>
        <p:spPr>
          <a:xfrm>
            <a:off x="603504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C7 is fragile: 15 of 30 conditions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2600" y="6848856"/>
            <a:ext cx="5486224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al_crop100x66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27464" y="6903720"/>
            <a:ext cx="5376496" cy="25146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5069136" y="6848856"/>
            <a:ext cx="2578783" cy="2624328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270304" y="7013448"/>
            <a:ext cx="2213023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820" b="0">
                <a:solidFill>
                  <a:srgbClr val="FFCD82"/>
                </a:solidFill>
                <a:latin typeface="Agrandir Bold"/>
              </a:rPr>
              <a:t>Real paper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Street, Wolberg &amp; Mangasarian, 1993.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The authors released no code, so the repo is our reproduction.</a:t>
            </a:r>
          </a:p>
        </p:txBody>
      </p:sp>
      <p:sp>
        <p:nvSpPr>
          <p:cNvPr id="30" name="TextBox 29">
            <a:hlinkClick r:id="rId10"/>
          </p:cNvPr>
          <p:cNvSpPr txBox="1"/>
          <p:nvPr/>
        </p:nvSpPr>
        <p:spPr>
          <a:xfrm>
            <a:off x="9372600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real paper: one claim exact, one optimistic, and its reason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Office PowerPoint</Application>
  <PresentationFormat>Custom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Agrandir Bold</vt:lpstr>
      <vt:lpstr>Agrandir</vt:lpstr>
      <vt:lpstr>Arial</vt:lpstr>
      <vt:lpstr>Horizon</vt:lpstr>
      <vt:lpstr>Bebas Neue</vt:lpstr>
      <vt:lpstr>Agrandir Medium</vt:lpstr>
      <vt:lpstr>Calibri</vt:lpstr>
      <vt:lpstr>Now Medium</vt:lpstr>
      <vt:lpstr>Anton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Preflight: EL-01 AI-Powered ML Paper Reproducibility Platform</dc:title>
  <dc:creator>Team Preflight</dc:creator>
  <cp:lastModifiedBy>Team Preflight</cp:lastModifiedBy>
  <cp:revision>1</cp:revision>
  <dcterms:created xsi:type="dcterms:W3CDTF">2006-08-16T00:00:00Z</dcterms:created>
  <dcterms:modified xsi:type="dcterms:W3CDTF">2026-09-17T12:58:53Z</dcterms:modified>
  <dc:identifier>DAHVYH0ZRyA</dc:identifier>
  <dc:subject>Elevate 1.0</dc:subject>
  <cp:keywords/>
  <dc:description/>
  <cp:category/>
</cp:coreProperties>
</file>