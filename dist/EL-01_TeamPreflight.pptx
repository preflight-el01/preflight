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22"/>
  </p:sldIdLst>
  <p:sldSz cx="18288000" cy="10287000"/>
  <p:notesSz cx="6858000" cy="9144000"/>
  <p:embeddedFontLst>
    <p:embeddedFont>
      <p:font typeface="Agrandir" panose="020B0604020202020204" charset="0"/>
      <p:regular r:id="rId11"/>
    </p:embeddedFont>
    <p:embeddedFont>
      <p:font typeface="Agrandir Bold" panose="020B0604020202020204" charset="0"/>
      <p:regular r:id="rId12"/>
    </p:embeddedFont>
    <p:embeddedFont>
      <p:font typeface="Agrandir Medium" panose="020B0604020202020204" charset="0"/>
      <p:regular r:id="rId13"/>
    </p:embeddedFont>
    <p:embeddedFont>
      <p:font typeface="Anton" pitchFamily="2" charset="0"/>
      <p:regular r:id="rId14"/>
    </p:embeddedFont>
    <p:embeddedFont>
      <p:font typeface="Bebas Neue" panose="020B0606020202050201" pitchFamily="34" charset="0"/>
      <p:regular r:id="rId15"/>
    </p:embeddedFont>
    <p:embeddedFont>
      <p:font typeface="Horizon" panose="020B0604020202020204" charset="0"/>
      <p:regular r:id="rId16"/>
    </p:embeddedFont>
    <p:embeddedFont>
      <p:font typeface="Now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Preflight answers one question for any ML paper: should you believe it? It re-runs every reported number and explains every gap with a re-run, not an opinion.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 from paper to verdict to why. The table maps every objective in the problem statement to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Python engine, three runtimes: the browser via Pyodide, a CLI, and a FastAPI server with Docker workers. The LLM only reads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competitor stops at whether. We go to why, and to whether a passing number deserves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on this slide are measured. Paper C takes about a minute in the browser because it tunes an SVM 12 ways per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scaling story is unusual: compute moves to the visitor's browser by default, and the server path is a classic queue plus workers with a content-hash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in this deck is measured. The competitor numbers come from their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screenshots of the real app. The full report exports as Markdown and JSON with run hashes.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hyperlink" Target="https://preflight-el01.github.io/preflight/" TargetMode="Externa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hyperlink" Target="https://preflight-el01.github.io/preflight/#paper_a-claims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preflight-el01.github.io/preflight/#paper_a" TargetMode="Externa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preflight-el01.github.io/preflight/" TargetMode="External"/><Relationship Id="rId4" Type="http://schemas.openxmlformats.org/officeDocument/2006/relationships/hyperlink" Target="https://github.com/preflight-el01/preflight" TargetMode="External"/><Relationship Id="rId5" Type="http://schemas.openxmlformats.org/officeDocument/2006/relationships/hyperlink" Target="https://preflight-el01.github.io/preflight/preflight-demo.mp4" TargetMode="External"/><Relationship Id="rId6" Type="http://schemas.openxmlformats.org/officeDocument/2006/relationships/hyperlink" Target="https://preflight-el01.github.io/preflight/preflight-test-kit.zip" TargetMode="External"/><Relationship Id="rId7" Type="http://schemas.openxmlformats.org/officeDocument/2006/relationships/image" Target="../media/image8.png"/><Relationship Id="rId8" Type="http://schemas.openxmlformats.org/officeDocument/2006/relationships/hyperlink" Target="https://preflight-el01.github.io/preflight/#tour" TargetMode="Externa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hyperlink" Target="https://preflight-el01.github.io/preflight/#paper_a-C1" TargetMode="External"/><Relationship Id="rId5" Type="http://schemas.openxmlformats.org/officeDocument/2006/relationships/image" Target="../media/image12.png"/><Relationship Id="rId6" Type="http://schemas.openxmlformats.org/officeDocument/2006/relationships/hyperlink" Target="https://preflight-el01.github.io/preflight/#paper_a-C5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preflight-el01.github.io/preflight/#paper_a-C7" TargetMode="External"/><Relationship Id="rId9" Type="http://schemas.openxmlformats.org/officeDocument/2006/relationships/image" Target="../media/image14.png"/><Relationship Id="rId10" Type="http://schemas.openxmlformats.org/officeDocument/2006/relationships/hyperlink" Target="https://preflight-el01.github.io/preflight/#paper_r" TargetMode="External"/><Relationship Id="rId11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5915" y="-1272977"/>
            <a:ext cx="19113915" cy="11559977"/>
          </a:xfrm>
          <a:custGeom>
            <a:avLst/>
            <a:gdLst/>
            <a:ahLst/>
            <a:cxnLst/>
            <a:rect l="l" t="t" r="r" b="b"/>
            <a:pathLst>
              <a:path w="19113915" h="11559977">
                <a:moveTo>
                  <a:pt x="0" y="0"/>
                </a:moveTo>
                <a:lnTo>
                  <a:pt x="19113915" y="0"/>
                </a:lnTo>
                <a:lnTo>
                  <a:pt x="19113915" y="11559977"/>
                </a:lnTo>
                <a:lnTo>
                  <a:pt x="0" y="11559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0" r="-3730"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94361" y="247504"/>
            <a:ext cx="2343715" cy="1046334"/>
            <a:chOff x="0" y="0"/>
            <a:chExt cx="3124953" cy="13951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0396" cy="1395113"/>
            </a:xfrm>
            <a:custGeom>
              <a:avLst/>
              <a:gdLst/>
              <a:ahLst/>
              <a:cxnLst/>
              <a:rect l="l" t="t" r="r" b="b"/>
              <a:pathLst>
                <a:path w="1110396" h="1395113">
                  <a:moveTo>
                    <a:pt x="0" y="0"/>
                  </a:moveTo>
                  <a:lnTo>
                    <a:pt x="1110396" y="0"/>
                  </a:lnTo>
                  <a:lnTo>
                    <a:pt x="1110396" y="1395113"/>
                  </a:lnTo>
                  <a:lnTo>
                    <a:pt x="0" y="1395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1120873" y="92133"/>
              <a:ext cx="2004079" cy="8694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2"/>
                </a:lnSpc>
              </a:pPr>
              <a:r>
                <a:rPr lang="en-US" sz="1539" b="1">
                  <a:solidFill>
                    <a:srgbClr val="FFFFFF"/>
                  </a:solidFill>
                  <a:latin typeface="Now Medium"/>
                  <a:ea typeface="Now Medium"/>
                  <a:cs typeface="Now Medium"/>
                  <a:sym typeface="Now Medium"/>
                </a:rPr>
                <a:t>INSTITUTION'S INNOVATION COUNCIL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0873" y="1011585"/>
              <a:ext cx="924960" cy="254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7"/>
                </a:lnSpc>
              </a:pPr>
              <a:r>
                <a:rPr lang="en-US" sz="1303" b="1">
                  <a:solidFill>
                    <a:srgbClr val="FF914D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DJSCE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03757" y="9307013"/>
            <a:ext cx="524923" cy="880803"/>
          </a:xfrm>
          <a:custGeom>
            <a:avLst/>
            <a:gdLst/>
            <a:ahLst/>
            <a:cxnLst/>
            <a:rect l="l" t="t" r="r" b="b"/>
            <a:pathLst>
              <a:path w="524923" h="880803">
                <a:moveTo>
                  <a:pt x="0" y="0"/>
                </a:moveTo>
                <a:lnTo>
                  <a:pt x="524923" y="0"/>
                </a:lnTo>
                <a:lnTo>
                  <a:pt x="524923" y="880803"/>
                </a:lnTo>
                <a:lnTo>
                  <a:pt x="0" y="880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grpSp>
        <p:nvGrpSpPr>
          <p:cNvPr id="8" name="Group 8"/>
          <p:cNvGrpSpPr/>
          <p:nvPr/>
        </p:nvGrpSpPr>
        <p:grpSpPr>
          <a:xfrm>
            <a:off x="1778704" y="5596150"/>
            <a:ext cx="7850808" cy="1419500"/>
            <a:chOff x="0" y="0"/>
            <a:chExt cx="13226375" cy="23914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26360" cy="2391442"/>
            </a:xfrm>
            <a:custGeom>
              <a:avLst/>
              <a:gdLst/>
              <a:ahLst/>
              <a:cxnLst/>
              <a:rect l="l" t="t" r="r" b="b"/>
              <a:pathLst>
                <a:path w="13226360" h="2391442">
                  <a:moveTo>
                    <a:pt x="0" y="347799"/>
                  </a:moveTo>
                  <a:cubicBezTo>
                    <a:pt x="0" y="155749"/>
                    <a:pt x="231130" y="0"/>
                    <a:pt x="516132" y="0"/>
                  </a:cubicBezTo>
                  <a:lnTo>
                    <a:pt x="12710228" y="0"/>
                  </a:lnTo>
                  <a:cubicBezTo>
                    <a:pt x="12995390" y="0"/>
                    <a:pt x="13226360" y="155749"/>
                    <a:pt x="13226360" y="347799"/>
                  </a:cubicBezTo>
                  <a:lnTo>
                    <a:pt x="13226360" y="2043643"/>
                  </a:lnTo>
                  <a:cubicBezTo>
                    <a:pt x="13226360" y="2235802"/>
                    <a:pt x="12995229" y="2391442"/>
                    <a:pt x="12710228" y="2391442"/>
                  </a:cubicBezTo>
                  <a:lnTo>
                    <a:pt x="516132" y="2391442"/>
                  </a:lnTo>
                  <a:cubicBezTo>
                    <a:pt x="230969" y="2391442"/>
                    <a:pt x="0" y="2235693"/>
                    <a:pt x="0" y="2043643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sq">
              <a:solidFill>
                <a:srgbClr val="D9D9D9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78704" y="7302306"/>
            <a:ext cx="7850808" cy="1419500"/>
            <a:chOff x="0" y="0"/>
            <a:chExt cx="13226375" cy="23914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26360" cy="2391442"/>
            </a:xfrm>
            <a:custGeom>
              <a:avLst/>
              <a:gdLst/>
              <a:ahLst/>
              <a:cxnLst/>
              <a:rect l="l" t="t" r="r" b="b"/>
              <a:pathLst>
                <a:path w="13226360" h="2391442">
                  <a:moveTo>
                    <a:pt x="0" y="347799"/>
                  </a:moveTo>
                  <a:cubicBezTo>
                    <a:pt x="0" y="155749"/>
                    <a:pt x="231130" y="0"/>
                    <a:pt x="516132" y="0"/>
                  </a:cubicBezTo>
                  <a:lnTo>
                    <a:pt x="12710228" y="0"/>
                  </a:lnTo>
                  <a:cubicBezTo>
                    <a:pt x="12995390" y="0"/>
                    <a:pt x="13226360" y="155749"/>
                    <a:pt x="13226360" y="347799"/>
                  </a:cubicBezTo>
                  <a:lnTo>
                    <a:pt x="13226360" y="2043643"/>
                  </a:lnTo>
                  <a:cubicBezTo>
                    <a:pt x="13226360" y="2235802"/>
                    <a:pt x="12995229" y="2391442"/>
                    <a:pt x="12710228" y="2391442"/>
                  </a:cubicBezTo>
                  <a:lnTo>
                    <a:pt x="516132" y="2391442"/>
                  </a:lnTo>
                  <a:cubicBezTo>
                    <a:pt x="230969" y="2391442"/>
                    <a:pt x="0" y="2235693"/>
                    <a:pt x="0" y="2043643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sq">
              <a:solidFill>
                <a:srgbClr val="D9D9D9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49754" y="5610575"/>
            <a:ext cx="6459542" cy="3111230"/>
            <a:chOff x="0" y="0"/>
            <a:chExt cx="10882489" cy="52415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82476" cy="5241513"/>
            </a:xfrm>
            <a:custGeom>
              <a:avLst/>
              <a:gdLst/>
              <a:ahLst/>
              <a:cxnLst/>
              <a:rect l="l" t="t" r="r" b="b"/>
              <a:pathLst>
                <a:path w="10882476" h="5241513">
                  <a:moveTo>
                    <a:pt x="0" y="762298"/>
                  </a:moveTo>
                  <a:cubicBezTo>
                    <a:pt x="0" y="341367"/>
                    <a:pt x="190171" y="0"/>
                    <a:pt x="424666" y="0"/>
                  </a:cubicBezTo>
                  <a:lnTo>
                    <a:pt x="10457810" y="0"/>
                  </a:lnTo>
                  <a:cubicBezTo>
                    <a:pt x="10692437" y="0"/>
                    <a:pt x="10882476" y="341367"/>
                    <a:pt x="10882476" y="762298"/>
                  </a:cubicBezTo>
                  <a:lnTo>
                    <a:pt x="10882476" y="4479215"/>
                  </a:lnTo>
                  <a:cubicBezTo>
                    <a:pt x="10882476" y="4900385"/>
                    <a:pt x="10692305" y="5241513"/>
                    <a:pt x="10457810" y="5241513"/>
                  </a:cubicBezTo>
                  <a:lnTo>
                    <a:pt x="424666" y="5241513"/>
                  </a:lnTo>
                  <a:cubicBezTo>
                    <a:pt x="190038" y="5241513"/>
                    <a:pt x="0" y="4900147"/>
                    <a:pt x="0" y="4479215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sq">
              <a:solidFill>
                <a:srgbClr val="D9D9D9">
                  <a:alpha val="80000"/>
                </a:srgbClr>
              </a:solidFill>
              <a:prstDash val="solid"/>
              <a:miter/>
            </a:ln>
          </p:spPr>
        </p:sp>
      </p:grpSp>
      <p:sp>
        <p:nvSpPr>
          <p:cNvPr id="14" name="Freeform 14"/>
          <p:cNvSpPr/>
          <p:nvPr/>
        </p:nvSpPr>
        <p:spPr>
          <a:xfrm>
            <a:off x="113722" y="9330363"/>
            <a:ext cx="923360" cy="834102"/>
          </a:xfrm>
          <a:custGeom>
            <a:avLst/>
            <a:gdLst/>
            <a:ahLst/>
            <a:cxnLst/>
            <a:rect l="l" t="t" r="r" b="b"/>
            <a:pathLst>
              <a:path w="923360" h="834102">
                <a:moveTo>
                  <a:pt x="0" y="0"/>
                </a:moveTo>
                <a:lnTo>
                  <a:pt x="923360" y="0"/>
                </a:lnTo>
                <a:lnTo>
                  <a:pt x="923360" y="834102"/>
                </a:lnTo>
                <a:lnTo>
                  <a:pt x="0" y="8341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5" name="TextBox 15"/>
          <p:cNvSpPr txBox="1"/>
          <p:nvPr/>
        </p:nvSpPr>
        <p:spPr>
          <a:xfrm>
            <a:off x="1695355" y="9418040"/>
            <a:ext cx="4859916" cy="64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100" spc="2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DWARKADAS J SANGHVI COLLEGE OF ENGINEERING, VILE PARLE(W)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55620" y="5953475"/>
            <a:ext cx="749807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Team Name: </a:t>
            </a:r>
            <a:r>
              <a:rPr sz="2600">
                <a:solidFill>
                  <a:srgbClr val="003470"/>
                </a:solidFill>
                <a:latin typeface="Agrandir"/>
              </a:rPr>
              <a:t>Team Preflight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5620" y="7940755"/>
            <a:ext cx="758952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PS Name :</a:t>
            </a:r>
            <a:r>
              <a:rPr sz="1900">
                <a:solidFill>
                  <a:srgbClr val="003470"/>
                </a:solidFill>
                <a:latin typeface="Agrandir"/>
              </a:rPr>
              <a:t> AI-Powered ML Paper Reproducibility Platform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55620" y="7431031"/>
            <a:ext cx="749807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PS ID :</a:t>
            </a:r>
            <a:r>
              <a:rPr sz="2600">
                <a:solidFill>
                  <a:srgbClr val="003470"/>
                </a:solidFill>
                <a:latin typeface="Agrandir"/>
              </a:rPr>
              <a:t> EL-01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07916" y="5724875"/>
            <a:ext cx="230753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Abstract :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460194" y="0"/>
            <a:ext cx="2720741" cy="1317816"/>
            <a:chOff x="0" y="0"/>
            <a:chExt cx="3627654" cy="17570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58552" cy="1757088"/>
            </a:xfrm>
            <a:custGeom>
              <a:avLst/>
              <a:gdLst/>
              <a:ahLst/>
              <a:cxnLst/>
              <a:rect l="l" t="t" r="r" b="b"/>
              <a:pathLst>
                <a:path w="1758552" h="1757088">
                  <a:moveTo>
                    <a:pt x="0" y="0"/>
                  </a:moveTo>
                  <a:lnTo>
                    <a:pt x="1758552" y="0"/>
                  </a:lnTo>
                  <a:lnTo>
                    <a:pt x="1758552" y="1757088"/>
                  </a:lnTo>
                  <a:lnTo>
                    <a:pt x="0" y="1757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2252616" y="192744"/>
              <a:ext cx="1375038" cy="1371600"/>
            </a:xfrm>
            <a:custGeom>
              <a:avLst/>
              <a:gdLst/>
              <a:ahLst/>
              <a:cxnLst/>
              <a:rect l="l" t="t" r="r" b="b"/>
              <a:pathLst>
                <a:path w="1375038" h="1371600">
                  <a:moveTo>
                    <a:pt x="0" y="0"/>
                  </a:moveTo>
                  <a:lnTo>
                    <a:pt x="1375038" y="0"/>
                  </a:lnTo>
                  <a:lnTo>
                    <a:pt x="137503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758552" y="681902"/>
              <a:ext cx="254692" cy="3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0"/>
                </a:lnSpc>
              </a:pPr>
              <a:r>
                <a:rPr lang="en-US" sz="1478">
                  <a:solidFill>
                    <a:srgbClr val="FFCD82"/>
                  </a:solidFill>
                  <a:latin typeface="Horizon"/>
                  <a:ea typeface="Horizon"/>
                  <a:cs typeface="Horizon"/>
                  <a:sym typeface="Horizon"/>
                </a:rPr>
                <a:t>x</a:t>
              </a:r>
            </a:p>
          </p:txBody>
        </p:sp>
      </p:grpSp>
      <p:sp>
        <p:nvSpPr>
          <p:cNvPr id="24" name="Product line"/>
          <p:cNvSpPr txBox="1"/>
          <p:nvPr/>
        </p:nvSpPr>
        <p:spPr>
          <a:xfrm>
            <a:off x="1956816" y="643737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Product: </a:t>
            </a:r>
            <a:r>
              <a:rPr sz="2100" b="0">
                <a:solidFill>
                  <a:srgbClr val="003470"/>
                </a:solidFill>
                <a:latin typeface="Agrandir"/>
              </a:rPr>
              <a:t>Preflight. Should you believe this ML paper?</a:t>
            </a:r>
          </a:p>
        </p:txBody>
      </p:sp>
      <p:sp>
        <p:nvSpPr>
          <p:cNvPr id="25" name="Abstract text"/>
          <p:cNvSpPr txBox="1"/>
          <p:nvPr/>
        </p:nvSpPr>
        <p:spPr>
          <a:xfrm>
            <a:off x="10305288" y="6309360"/>
            <a:ext cx="43434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10" b="0">
                <a:solidFill>
                  <a:srgbClr val="003470"/>
                </a:solidFill>
                <a:latin typeface="Agrandir Bold"/>
              </a:rPr>
              <a:t>Preflight</a:t>
            </a:r>
            <a:r>
              <a:rPr sz="1510" b="0">
                <a:solidFill>
                  <a:srgbClr val="003470"/>
                </a:solidFill>
                <a:latin typeface="Agrandir"/>
              </a:rPr>
              <a:t> re-runs every number in an ML paper over ten seeds, explains each gap with a counterfactual re-run, and flags results inflated by leakage, unfair baselines, wrong metrics or lucky seeds.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10" b="0">
                <a:solidFill>
                  <a:srgbClr val="003470"/>
                </a:solidFill>
                <a:latin typeface="Agrandir Bold"/>
              </a:rPr>
              <a:t>Claude reads the paper; re-runs decide. </a:t>
            </a:r>
            <a:r>
              <a:rPr sz="1510" b="0">
                <a:solidFill>
                  <a:srgbClr val="003470"/>
                </a:solidFill>
                <a:latin typeface="Agrandir"/>
              </a:rPr>
              <a:t>13/13 planted issues caught, 0 false alarms.</a:t>
            </a:r>
          </a:p>
        </p:txBody>
      </p:sp>
      <p:pic>
        <p:nvPicPr>
          <p:cNvPr id="26" name="Picture 25" descr="qr_demo.pn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13280" y="6355080"/>
            <a:ext cx="1463040" cy="1463040"/>
          </a:xfrm>
          <a:prstGeom prst="rect">
            <a:avLst/>
          </a:prstGeom>
        </p:spPr>
      </p:pic>
      <p:sp>
        <p:nvSpPr>
          <p:cNvPr id="27" name="TextBox 26">
            <a:hlinkClick r:id="rId9"/>
          </p:cNvPr>
          <p:cNvSpPr txBox="1"/>
          <p:nvPr/>
        </p:nvSpPr>
        <p:spPr>
          <a:xfrm>
            <a:off x="14401800" y="78821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40" b="0" u="sng">
                <a:solidFill>
                  <a:srgbClr val="003470"/>
                </a:solidFill>
                <a:latin typeface="Agrandir Bold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4" name="AutoShape 4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602442" y="682985"/>
            <a:ext cx="1463040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</p:txBody>
      </p:sp>
      <p:sp>
        <p:nvSpPr>
          <p:cNvPr id="12" name="Takeaway"/>
          <p:cNvSpPr/>
          <p:nvPr/>
        </p:nvSpPr>
        <p:spPr>
          <a:xfrm>
            <a:off x="11841480" y="566928"/>
            <a:ext cx="4983480" cy="1261872"/>
          </a:xfrm>
          <a:prstGeom prst="roundRect">
            <a:avLst>
              <a:gd name="adj" fmla="val 12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088368" y="676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90" b="0">
                <a:solidFill>
                  <a:srgbClr val="FF914D"/>
                </a:solidFill>
                <a:latin typeface="Agrandir Bold"/>
              </a:rPr>
              <a:t>THE POINT</a:t>
            </a:r>
          </a:p>
        </p:txBody>
      </p:sp>
      <p:sp>
        <p:nvSpPr>
          <p:cNvPr id="14" name="Takeaway text"/>
          <p:cNvSpPr txBox="1"/>
          <p:nvPr/>
        </p:nvSpPr>
        <p:spPr>
          <a:xfrm>
            <a:off x="12088368" y="95097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FFCD82"/>
                </a:solidFill>
                <a:latin typeface="Agrandir Bold"/>
              </a:rPr>
              <a:t>Reproducing is not enough. </a:t>
            </a:r>
            <a:r>
              <a:rPr sz="1610" b="0">
                <a:solidFill>
                  <a:srgbClr val="FFFFFF"/>
                </a:solidFill>
                <a:latin typeface="Agrandir"/>
              </a:rPr>
              <a:t>We show whether to believe a result, and prove it with a re-run.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450592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20" b="0">
                <a:solidFill>
                  <a:srgbClr val="FF914D"/>
                </a:solidFill>
                <a:latin typeface="Agrandir Bold"/>
              </a:rPr>
              <a:t>The problem: </a:t>
            </a:r>
            <a:r>
              <a:rPr sz="1820" b="0">
                <a:solidFill>
                  <a:srgbClr val="003470"/>
                </a:solidFill>
                <a:latin typeface="Agrandir"/>
              </a:rPr>
              <a:t>ML results can reproduce and still mislead: leaked test data, untuned baselines, lucky seeds.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Today's tools </a:t>
            </a:r>
            <a:r>
              <a:rPr sz="1820" b="0">
                <a:solidFill>
                  <a:srgbClr val="003470"/>
                </a:solidFill>
                <a:latin typeface="Agrandir"/>
              </a:rPr>
              <a:t>stop at “does it run?”. Preflight asks “should you believe it?”</a:t>
            </a:r>
          </a:p>
        </p:txBody>
      </p:sp>
      <p:sp>
        <p:nvSpPr>
          <p:cNvPr id="16" name="Step 1"/>
          <p:cNvSpPr/>
          <p:nvPr/>
        </p:nvSpPr>
        <p:spPr>
          <a:xfrm>
            <a:off x="603504" y="352044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3611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>
                <a:solidFill>
                  <a:srgbClr val="FF914D"/>
                </a:solidFill>
                <a:latin typeface="Anton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14223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50" b="0">
                <a:solidFill>
                  <a:srgbClr val="003470"/>
                </a:solidFill>
                <a:latin typeface="Agrandir Bold"/>
              </a:rPr>
              <a:t>Paper +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544568"/>
            <a:ext cx="15361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5507A"/>
                </a:solidFill>
                <a:latin typeface="Agrandir"/>
              </a:rPr>
              <a:t>PDF read by Claude; repo by folder or GitHub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59736" y="4480560"/>
            <a:ext cx="237744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 2"/>
          <p:cNvSpPr/>
          <p:nvPr/>
        </p:nvSpPr>
        <p:spPr>
          <a:xfrm>
            <a:off x="2724912" y="352044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889504" y="3611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>
                <a:solidFill>
                  <a:srgbClr val="FF914D"/>
                </a:solidFill>
                <a:latin typeface="Anton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504" y="414223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50" b="0">
                <a:solidFill>
                  <a:srgbClr val="003470"/>
                </a:solidFill>
                <a:latin typeface="Agrandir Bold"/>
              </a:rPr>
              <a:t>Claims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4544568"/>
            <a:ext cx="15361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5507A"/>
                </a:solidFill>
                <a:latin typeface="Agrandir"/>
              </a:rPr>
              <a:t>every table cell and comparison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81144" y="4480560"/>
            <a:ext cx="237744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tep 3"/>
          <p:cNvSpPr/>
          <p:nvPr/>
        </p:nvSpPr>
        <p:spPr>
          <a:xfrm>
            <a:off x="4846320" y="352044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10912" y="3611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>
                <a:solidFill>
                  <a:srgbClr val="FF914D"/>
                </a:solidFill>
                <a:latin typeface="Anton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414223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50" b="0">
                <a:solidFill>
                  <a:srgbClr val="003470"/>
                </a:solidFill>
                <a:latin typeface="Agrandir Bold"/>
              </a:rPr>
              <a:t>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4544568"/>
            <a:ext cx="15361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5507A"/>
                </a:solidFill>
                <a:latin typeface="Agrandir"/>
              </a:rPr>
              <a:t>sandboxed, over 10 seeds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02552" y="4480560"/>
            <a:ext cx="237744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ep 4"/>
          <p:cNvSpPr/>
          <p:nvPr/>
        </p:nvSpPr>
        <p:spPr>
          <a:xfrm>
            <a:off x="6967727" y="352044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3611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>
                <a:solidFill>
                  <a:srgbClr val="FF914D"/>
                </a:solidFill>
                <a:latin typeface="Anton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19" y="414223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50" b="0">
                <a:solidFill>
                  <a:srgbClr val="003470"/>
                </a:solidFill>
                <a:latin typeface="Agrandir Bold"/>
              </a:rPr>
              <a:t>Verdicts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9" y="4544568"/>
            <a:ext cx="15361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5507A"/>
                </a:solidFill>
                <a:latin typeface="Agrandir"/>
              </a:rPr>
              <a:t>four levels, seed-aware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23959" y="4480560"/>
            <a:ext cx="237745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tep 5"/>
          <p:cNvSpPr/>
          <p:nvPr/>
        </p:nvSpPr>
        <p:spPr>
          <a:xfrm>
            <a:off x="9089136" y="352044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253728" y="3611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>
                <a:solidFill>
                  <a:srgbClr val="FF914D"/>
                </a:solidFill>
                <a:latin typeface="Anton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14223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50" b="0">
                <a:solidFill>
                  <a:srgbClr val="003470"/>
                </a:solidFill>
                <a:latin typeface="Agrandir Bold"/>
              </a:rPr>
              <a:t>Why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4544568"/>
            <a:ext cx="15361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5507A"/>
                </a:solidFill>
                <a:latin typeface="Agrandir"/>
              </a:rPr>
              <a:t>re-runs that explain each gap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03504" y="5687568"/>
          <a:ext cx="1033272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6400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What EL-01 asks for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What Preflight does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Understand the methodology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AI reader extracts claims and stated settings; you confirm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Find the implementation and config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README, config and AST mapping down to file:line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Execute in a controlled environment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Sandbox: browser WASM, subprocess or Docker; 10 seeds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Compare with reported results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Seed-aware verdict with a k-seed tolerance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Explain why results differ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Shapley gap attribution and missing-detail inference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Go beyond code exists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Leakage, metric, fair-baseline and fragility re-runs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Evidence-backed, per experiment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Claim Ledger: table cell, code line, command, log, hash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Lightweight CPU-only papers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CPU triage: full, scaled or untestable, with the reason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1420856" y="2487168"/>
            <a:ext cx="6281928" cy="536280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claims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542032"/>
            <a:ext cx="6172200" cy="525307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475720" y="7923126"/>
            <a:ext cx="6172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Claim Ledger for Paper A: every number, its verdict and its cause</a:t>
            </a:r>
          </a:p>
        </p:txBody>
      </p:sp>
      <p:sp>
        <p:nvSpPr>
          <p:cNvPr id="44" name="TextBox 43">
            <a:hlinkClick r:id="rId4"/>
          </p:cNvPr>
          <p:cNvSpPr txBox="1"/>
          <p:nvPr/>
        </p:nvSpPr>
        <p:spPr>
          <a:xfrm>
            <a:off x="11475720" y="8362038"/>
            <a:ext cx="6172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80" b="0" u="sng">
                <a:solidFill>
                  <a:srgbClr val="FF914D"/>
                </a:solidFill>
                <a:latin typeface="Agrandir 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this ledger live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02442" y="682985"/>
            <a:ext cx="1463040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TECHNICAL APPROACH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3" name="Rounded Rectangle 12"/>
          <p:cNvSpPr/>
          <p:nvPr/>
        </p:nvSpPr>
        <p:spPr>
          <a:xfrm>
            <a:off x="603504" y="2487168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CD82">
              <a:alpha val="95000"/>
            </a:srgbClr>
          </a:solidFill>
          <a:ln w="15875">
            <a:solidFill>
              <a:srgbClr val="FF91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664" y="257860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AI paper 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999232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Claude Opus 5.5 · PDF → claims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9544" y="2999232"/>
            <a:ext cx="246888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83864" y="2487168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21024" y="257860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999232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tables, settings, comparisons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2999232"/>
            <a:ext cx="246888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64224" y="2487168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01384" y="257860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Map repo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999232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README · config · AST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70263" y="2999232"/>
            <a:ext cx="246889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44584" y="2487168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81744" y="257860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CPU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2999232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full / scaled / untestable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850624" y="2999232"/>
            <a:ext cx="246888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2124944" y="2487168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262104" y="257860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Static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62104" y="2999232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diff · leakage · metric · budget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730984" y="2999232"/>
            <a:ext cx="246887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5005304" y="2487168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5142463" y="257860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Execute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42463" y="2999232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sandbox · 10 seeds · self-heal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3730752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0664" y="3822191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Compare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" y="4242816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k-seed tolerance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09544" y="4242816"/>
            <a:ext cx="246888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483864" y="3730752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621024" y="3822191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Attribute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1024" y="4242816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Shapley over re-runs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89904" y="4242816"/>
            <a:ext cx="246888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364224" y="3730752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01384" y="3822191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Infer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1384" y="4242816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GRIM + sweep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970263" y="4242816"/>
            <a:ext cx="246889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244584" y="3730752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381744" y="3822191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Validity re-runs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81744" y="4242816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leak · dupes · metric · baseline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850624" y="4242816"/>
            <a:ext cx="246888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2124944" y="3730752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2262104" y="3822191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Fragility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62104" y="4242816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seeds · splits · ±10%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4730984" y="4242816"/>
            <a:ext cx="246887" cy="0"/>
          </a:xfrm>
          <a:prstGeom prst="line">
            <a:avLst/>
          </a:prstGeom>
          <a:ln w="25400">
            <a:solidFill>
              <a:srgbClr val="0034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5005304" y="3730752"/>
            <a:ext cx="2578608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5142463" y="3822191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Report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142463" y="4242816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5507A"/>
                </a:solidFill>
                <a:latin typeface="Agrandir"/>
              </a:rPr>
              <a:t>ledger · card · issues · badge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6294608" y="3511296"/>
            <a:ext cx="0" cy="109728"/>
          </a:xfrm>
          <a:prstGeom prst="line">
            <a:avLst/>
          </a:prstGeom>
          <a:ln w="25400">
            <a:solidFill>
              <a:srgbClr val="6A7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892807" y="3621024"/>
            <a:ext cx="14401801" cy="0"/>
          </a:xfrm>
          <a:prstGeom prst="line">
            <a:avLst/>
          </a:prstGeom>
          <a:ln w="25400">
            <a:solidFill>
              <a:srgbClr val="6A7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92807" y="3621024"/>
            <a:ext cx="0" cy="109728"/>
          </a:xfrm>
          <a:prstGeom prst="line">
            <a:avLst/>
          </a:prstGeom>
          <a:ln w="25400">
            <a:solidFill>
              <a:srgbClr val="6A7A9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akeaway"/>
          <p:cNvSpPr/>
          <p:nvPr/>
        </p:nvSpPr>
        <p:spPr>
          <a:xfrm>
            <a:off x="11841480" y="566928"/>
            <a:ext cx="4983480" cy="1261872"/>
          </a:xfrm>
          <a:prstGeom prst="roundRect">
            <a:avLst>
              <a:gd name="adj" fmla="val 12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2088368" y="676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90" b="0">
                <a:solidFill>
                  <a:srgbClr val="FF914D"/>
                </a:solidFill>
                <a:latin typeface="Agrandir Bold"/>
              </a:rPr>
              <a:t>THE POINT</a:t>
            </a:r>
          </a:p>
        </p:txBody>
      </p:sp>
      <p:sp>
        <p:nvSpPr>
          <p:cNvPr id="64" name="Takeaway text"/>
          <p:cNvSpPr txBox="1"/>
          <p:nvPr/>
        </p:nvSpPr>
        <p:spPr>
          <a:xfrm>
            <a:off x="12088368" y="95097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FFCD82"/>
                </a:solidFill>
                <a:latin typeface="Agrandir Bold"/>
              </a:rPr>
              <a:t>One AI step. </a:t>
            </a:r>
            <a:r>
              <a:rPr sz="1610" b="0">
                <a:solidFill>
                  <a:srgbClr val="FFFFFF"/>
                </a:solidFill>
                <a:latin typeface="Agrandir"/>
              </a:rPr>
              <a:t>Everything after it is deterministic, sandboxed and repeatable.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" y="4864608"/>
            <a:ext cx="17007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FF914D"/>
                </a:solidFill>
                <a:latin typeface="Agrandir Bold"/>
              </a:rPr>
              <a:t>Dashed = the only AI step (claim extraction, checked by a person). </a:t>
            </a:r>
            <a:r>
              <a:rPr sz="1610" b="0">
                <a:solidFill>
                  <a:srgbClr val="003470"/>
                </a:solidFill>
                <a:latin typeface="Agrandir"/>
              </a:rPr>
              <a:t>Everything after it is deterministic: static analysis, sandboxed execution, statistics and counterfactual re-runs.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5623560"/>
            <a:ext cx="4041648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04672" y="5760720"/>
            <a:ext cx="36758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Verdict rule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2" y="6327648"/>
            <a:ext cx="372160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003470"/>
                </a:solidFill>
                <a:latin typeface="Consolas"/>
              </a:rPr>
              <a:t>tol = max(2σ/√k, 0.5 pt)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003470"/>
                </a:solidFill>
                <a:latin typeface="Consolas"/>
              </a:rPr>
              <a:t>k = seeds paper averaged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003470"/>
                </a:solidFill>
                <a:latin typeface="Consolas"/>
              </a:rPr>
              <a:t>Partial: ≤ 3σ/√k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003470"/>
                </a:solidFill>
                <a:latin typeface="Consolas"/>
              </a:rPr>
              <a:t>        or a scaled run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28616" y="5623560"/>
            <a:ext cx="4041648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129783" y="5760720"/>
            <a:ext cx="36758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Gap attribution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29783" y="6327648"/>
            <a:ext cx="372160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003470"/>
                </a:solidFill>
                <a:latin typeface="Consolas"/>
              </a:rPr>
              <a:t>φᵢ = Σ |S|!(n−|S|−1)!/n!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003470"/>
                </a:solidFill>
                <a:latin typeface="Consolas"/>
              </a:rPr>
              <a:t>     · [v(S∪{i}) − v(S)]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003470"/>
                </a:solidFill>
                <a:latin typeface="Consolas"/>
              </a:rPr>
              <a:t>v(S): 10-seed mean,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003470"/>
                </a:solidFill>
                <a:latin typeface="Consolas"/>
              </a:rPr>
              <a:t>S set to paper values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53728" y="5623560"/>
            <a:ext cx="4041648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454896" y="5760720"/>
            <a:ext cx="36758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Sandbox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54896" y="6327648"/>
            <a:ext cx="372160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70" b="0">
                <a:solidFill>
                  <a:srgbClr val="003470"/>
                </a:solidFill>
                <a:latin typeface="Agrandir"/>
              </a:rPr>
              <a:t>fresh repo copy, hashed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70" b="0">
                <a:solidFill>
                  <a:srgbClr val="003470"/>
                </a:solidFill>
                <a:latin typeface="Agrandir"/>
              </a:rPr>
              <a:t>seed set at the code's seed site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70" b="0">
                <a:solidFill>
                  <a:srgbClr val="003470"/>
                </a:solidFill>
                <a:latin typeface="Agrandir"/>
              </a:rPr>
              <a:t>Docker: no network, CPU/RAM caps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70" b="0">
                <a:solidFill>
                  <a:srgbClr val="003470"/>
                </a:solidFill>
                <a:latin typeface="Agrandir"/>
              </a:rPr>
              <a:t>probe: fits, splits, row hashes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578839" y="5623560"/>
            <a:ext cx="4041648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3780007" y="5760720"/>
            <a:ext cx="36758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Stack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80007" y="6327648"/>
            <a:ext cx="372160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70" b="0">
                <a:solidFill>
                  <a:srgbClr val="003470"/>
                </a:solidFill>
                <a:latin typeface="Agrandir"/>
              </a:rPr>
              <a:t>Python 3.14 · scikit-learn 1.8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70" b="0">
                <a:solidFill>
                  <a:srgbClr val="003470"/>
                </a:solidFill>
                <a:latin typeface="Agrandir"/>
              </a:rPr>
              <a:t>Pyodide (WASM), Web Worker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70" b="0">
                <a:solidFill>
                  <a:srgbClr val="003470"/>
                </a:solidFill>
                <a:latin typeface="Agrandir"/>
              </a:rPr>
              <a:t>FastAPI · queue · Docker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70" b="0">
                <a:solidFill>
                  <a:srgbClr val="003470"/>
                </a:solidFill>
                <a:latin typeface="Agrandir"/>
              </a:rPr>
              <a:t>Claude Opus 5.5, JSON output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3503" y="8586215"/>
            <a:ext cx="14923008" cy="153600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f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8641080"/>
            <a:ext cx="14813280" cy="142627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5681959" y="868680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5507A"/>
                </a:solidFill>
                <a:latin typeface="Agrandir"/>
              </a:rPr>
              <a:t>The same 11 stages, live in the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02442" y="682985"/>
            <a:ext cx="1463040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INNOVATION AND UNIQUENESS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3" name="Takeaway"/>
          <p:cNvSpPr/>
          <p:nvPr/>
        </p:nvSpPr>
        <p:spPr>
          <a:xfrm>
            <a:off x="11841480" y="566928"/>
            <a:ext cx="4983480" cy="1261872"/>
          </a:xfrm>
          <a:prstGeom prst="roundRect">
            <a:avLst>
              <a:gd name="adj" fmla="val 12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88368" y="676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90" b="0">
                <a:solidFill>
                  <a:srgbClr val="FF914D"/>
                </a:solidFill>
                <a:latin typeface="Agrandir Bold"/>
              </a:rPr>
              <a:t>THE POINT</a:t>
            </a:r>
          </a:p>
        </p:txBody>
      </p:sp>
      <p:sp>
        <p:nvSpPr>
          <p:cNvPr id="15" name="Takeaway text"/>
          <p:cNvSpPr txBox="1"/>
          <p:nvPr/>
        </p:nvSpPr>
        <p:spPr>
          <a:xfrm>
            <a:off x="12088368" y="95097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FFCD82"/>
                </a:solidFill>
                <a:latin typeface="Agrandir Bold"/>
              </a:rPr>
              <a:t>Others say whether. </a:t>
            </a:r>
            <a:r>
              <a:rPr sz="1610" b="0">
                <a:solidFill>
                  <a:srgbClr val="FFFFFF"/>
                </a:solidFill>
                <a:latin typeface="Agrandir"/>
              </a:rPr>
              <a:t>Preflight shows why, and catches results that reproduce but mislead.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03504" y="2542032"/>
          <a:ext cx="10607953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1182319"/>
                <a:gridCol w="1182319"/>
                <a:gridCol w="1182319"/>
                <a:gridCol w="1182319"/>
                <a:gridCol w="1182319"/>
                <a:gridCol w="1182319"/>
                <a:gridCol w="118231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Runs code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Per-claim verdict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Explains why (re-run)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Leakage check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Fragility / seeds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False-alarm control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Metric &amp; baseline audit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VERITAS (2026)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A06200"/>
                          </a:solidFill>
                          <a:latin typeface="Agrandir"/>
                        </a:rPr>
                        <a:t>Partly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CORE-Bench agents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A06200"/>
                          </a:solidFill>
                          <a:latin typeface="Agrandir"/>
                        </a:rPr>
                        <a:t>Partly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REPRO-Bench agents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A06200"/>
                          </a:solidFill>
                          <a:latin typeface="Agrandir"/>
                        </a:rPr>
                        <a:t>Partly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A06200"/>
                          </a:solidFill>
                          <a:latin typeface="Agrandir"/>
                        </a:rPr>
                        <a:t>Partly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Code Ocean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SciCoQA / Dude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A06200"/>
                          </a:solidFill>
                          <a:latin typeface="Agrandir"/>
                        </a:rPr>
                        <a:t>Partly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A06200"/>
                          </a:solidFill>
                          <a:latin typeface="Agrandir"/>
                        </a:rPr>
                        <a:t>Partly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A06200"/>
                          </a:solidFill>
                          <a:latin typeface="Agrandir"/>
                        </a:rPr>
                        <a:t>LLM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B5"/>
                          </a:solidFill>
                          <a:latin typeface="Agrandir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Preflight</a:t>
                      </a:r>
                    </a:p>
                  </a:txBody>
                  <a:tcPr marL="91440" marR="91440" marT="36576" marB="36576" anchor="ctr">
                    <a:solidFill>
                      <a:srgbClr val="FFCD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CD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CD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CD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CD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CD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Re-run</a:t>
                      </a:r>
                    </a:p>
                  </a:txBody>
                  <a:tcPr marL="91440" marR="91440" marT="36576" marB="36576" anchor="ctr">
                    <a:solidFill>
                      <a:srgbClr val="FFCD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A7A51"/>
                          </a:solidFill>
                          <a:latin typeface="Agrandir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CD82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03504" y="67665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30" b="0">
                <a:solidFill>
                  <a:srgbClr val="6A7A90"/>
                </a:solidFill>
                <a:latin typeface="Agrandir"/>
              </a:rPr>
              <a:t>Based on each tool's published description. Partly: covers part of the column.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7223760"/>
            <a:ext cx="10607040" cy="269748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7360920"/>
            <a:ext cx="10058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“How is this different from VERITAS?” 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820" b="0">
                <a:solidFill>
                  <a:srgbClr val="003470"/>
                </a:solidFill>
                <a:latin typeface="Agrandir"/>
              </a:rPr>
              <a:t>VERITAS tells you whether a claim replicates. Preflight tells you why it failed, whether a passing result is inflated, and how fragile it is, and backs each finding with a counterfactual re-run.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820" b="0">
                <a:solidFill>
                  <a:srgbClr val="003470"/>
                </a:solidFill>
                <a:latin typeface="Agrandir Bold"/>
              </a:rPr>
              <a:t>Original: </a:t>
            </a:r>
            <a:r>
              <a:rPr sz="1820" b="0">
                <a:solidFill>
                  <a:srgbClr val="003470"/>
                </a:solidFill>
                <a:latin typeface="Agrandir"/>
              </a:rPr>
              <a:t>a GRIM check rules out split ratios that cannot produce the reported accuracy before anything runs; seeds are injected at the code's own seed site; every flag must survive a re-run (Dude's false-positive problem).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58600" y="2542032"/>
            <a:ext cx="2852928" cy="214884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841480" y="2706624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200" b="0">
                <a:solidFill>
                  <a:srgbClr val="0A7A51"/>
                </a:solidFill>
                <a:latin typeface="Anton"/>
              </a:rPr>
              <a:t>96%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41480" y="3502152"/>
            <a:ext cx="2514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35507A"/>
                </a:solidFill>
                <a:latin typeface="Agrandir"/>
              </a:rPr>
              <a:t>of a 2.46-pt gap explained by one config value (C), via Shapley re-runs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94408" y="2542032"/>
            <a:ext cx="2852928" cy="214884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877288" y="2706624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200" b="0">
                <a:solidFill>
                  <a:srgbClr val="C52F3B"/>
                </a:solidFill>
                <a:latin typeface="Anton"/>
              </a:rPr>
              <a:t>−28.8 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77288" y="3502152"/>
            <a:ext cx="2514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35507A"/>
                </a:solidFill>
                <a:latin typeface="Agrandir"/>
              </a:rPr>
              <a:t>a result that reproduces, but only because feature selection saw the test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58600" y="4873752"/>
            <a:ext cx="2852928" cy="214884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841480" y="5038344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360" b="0">
                <a:solidFill>
                  <a:srgbClr val="C52F3B"/>
                </a:solidFill>
                <a:latin typeface="Anton"/>
              </a:rPr>
              <a:t>+1.52 → −0.56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41480" y="5833872"/>
            <a:ext cx="2514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35507A"/>
                </a:solidFill>
                <a:latin typeface="Agrandir"/>
              </a:rPr>
              <a:t>a claimed win that flips once the baseline gets the same tuning budget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94408" y="4873752"/>
            <a:ext cx="2852928" cy="214884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4877288" y="5038344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200" b="0">
                <a:solidFill>
                  <a:srgbClr val="A06200"/>
                </a:solidFill>
                <a:latin typeface="Anton"/>
              </a:rPr>
              <a:t>15 / 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77288" y="5833872"/>
            <a:ext cx="2514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35507A"/>
                </a:solidFill>
                <a:latin typeface="Agrandir"/>
              </a:rPr>
              <a:t>conditions where “significantly outperforms” still holds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658600" y="7269480"/>
            <a:ext cx="5888736" cy="2606040"/>
          </a:xfrm>
          <a:prstGeom prst="roundRect">
            <a:avLst>
              <a:gd name="adj" fmla="val 6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932920" y="745236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440" b="0">
                <a:solidFill>
                  <a:srgbClr val="FFCD82"/>
                </a:solidFill>
                <a:latin typeface="Anton"/>
              </a:rPr>
              <a:t>13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32920" y="84124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820" b="0">
                <a:solidFill>
                  <a:srgbClr val="FFFFFF"/>
                </a:solidFill>
                <a:latin typeface="Agrandir"/>
              </a:rPr>
              <a:t>planted issues caught across the test papers, with 0 false alarms on the clean control. One real 1993 paper audited end to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02442" y="682985"/>
            <a:ext cx="1463040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FEASIBILITY AND VIABILITY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3" name="Takeaway"/>
          <p:cNvSpPr/>
          <p:nvPr/>
        </p:nvSpPr>
        <p:spPr>
          <a:xfrm>
            <a:off x="11841480" y="566928"/>
            <a:ext cx="4983480" cy="1261872"/>
          </a:xfrm>
          <a:prstGeom prst="roundRect">
            <a:avLst>
              <a:gd name="adj" fmla="val 12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88368" y="676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90" b="0">
                <a:solidFill>
                  <a:srgbClr val="FF914D"/>
                </a:solidFill>
                <a:latin typeface="Agrandir Bold"/>
              </a:rPr>
              <a:t>THE POINT</a:t>
            </a:r>
          </a:p>
        </p:txBody>
      </p:sp>
      <p:sp>
        <p:nvSpPr>
          <p:cNvPr id="15" name="Takeaway text"/>
          <p:cNvSpPr txBox="1"/>
          <p:nvPr/>
        </p:nvSpPr>
        <p:spPr>
          <a:xfrm>
            <a:off x="12088368" y="95097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FFCD82"/>
                </a:solidFill>
                <a:latin typeface="Agrandir Bold"/>
              </a:rPr>
              <a:t>Built and running today. </a:t>
            </a:r>
            <a:r>
              <a:rPr sz="1610" b="0">
                <a:solidFill>
                  <a:srgbClr val="FFFFFF"/>
                </a:solidFill>
                <a:latin typeface="Agrandir"/>
              </a:rPr>
              <a:t>Every demo audit finishes within a minute, on a CPU, in the browser.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248716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80" b="0">
                <a:solidFill>
                  <a:srgbClr val="003470"/>
                </a:solidFill>
                <a:latin typeface="Agrandir Bold"/>
              </a:rPr>
              <a:t>Every demo audit runs on a CPU in seconds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" y="2971800"/>
          <a:ext cx="822960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1417320"/>
                <a:gridCol w="1143000"/>
                <a:gridCol w="132588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FFFFFF"/>
                          </a:solidFill>
                          <a:latin typeface="Agrandir Bold"/>
                        </a:rPr>
                        <a:t>Paper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FFFFFF"/>
                          </a:solidFill>
                          <a:latin typeface="Agrandir Bold"/>
                        </a:rPr>
                        <a:t>Sandboxed runs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FFFFFF"/>
                          </a:solidFill>
                          <a:latin typeface="Agrandir Bold"/>
                        </a:rPr>
                        <a:t>From cache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FFFFFF"/>
                          </a:solidFill>
                          <a:latin typeface="Agrandir Bold"/>
                        </a:rPr>
                        <a:t>CPU-s (laptop)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FFFFFF"/>
                          </a:solidFill>
                          <a:latin typeface="Agrandir Bold"/>
                        </a:rPr>
                        <a:t>Live in browser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 Bold"/>
                        </a:rPr>
                        <a:t>A · planted (7 claims)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242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94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3.7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6 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 Bold"/>
                        </a:rPr>
                        <a:t>B · clean control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22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1.5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2.6 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 Bold"/>
                        </a:rPr>
                        <a:t>C · planted (6 claims)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151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66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24.4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55 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 Bold"/>
                        </a:rPr>
                        <a:t>R · real, Street et al. 1993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82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49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8.6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60">
                          <a:solidFill>
                            <a:srgbClr val="003470"/>
                          </a:solidFill>
                          <a:latin typeface="Agrandir"/>
                        </a:rPr>
                        <a:t>13.3 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3504" y="532180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6A7A90"/>
                </a:solidFill>
                <a:latin typeface="Agrandir"/>
              </a:rPr>
              <a:t>Browser: Pyodide 314.0.7 in Chrome. Live and recorded runs match exactly.</a:t>
            </a:r>
          </a:p>
        </p:txBody>
      </p:sp>
      <p:sp>
        <p:nvSpPr>
          <p:cNvPr id="19" name="TextBox 18">
            <a:hlinkClick r:id="rId3"/>
          </p:cNvPr>
          <p:cNvSpPr txBox="1"/>
          <p:nvPr/>
        </p:nvSpPr>
        <p:spPr>
          <a:xfrm>
            <a:off x="4480560" y="2542032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610" b="0" u="sng">
                <a:solidFill>
                  <a:srgbClr val="FF914D"/>
                </a:solidFill>
                <a:latin typeface="Agrandir 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 Paper A live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583387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80" b="0">
                <a:solidFill>
                  <a:srgbClr val="003470"/>
                </a:solidFill>
                <a:latin typeface="Agrandir Bold"/>
              </a:rPr>
              <a:t>Risks and mitigations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03504" y="6355080"/>
          <a:ext cx="822960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54864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Risk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Agrandir Bold"/>
                        </a:rPr>
                        <a:t>Mitigation</a:t>
                      </a:r>
                    </a:p>
                  </a:txBody>
                  <a:tcPr marL="91440" marR="91440" marT="36576" marB="36576" anchor="ctr">
                    <a:solidFill>
                      <a:srgbClr val="00347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PDF tables misread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Claude with a JSON schema, then a person confirms the claims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LLM hallucination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LLM only extracts; every finding is a re-run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Repo breaks on new libraries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self-heal rules, patch shown, logged as impediment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Experiment too big for CPU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triage: scale rows to the RAM budget, verdict ≤ Partial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Hostile code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Docker: no network, CPU/RAM/PID caps, read-only root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 Bold"/>
                        </a:rPr>
                        <a:t>Venue wifi fails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3470"/>
                          </a:solidFill>
                          <a:latin typeface="Agrandir"/>
                        </a:rPr>
                        <a:t>recorded replay, labelled as recorded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418320" y="248716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80" b="0">
                <a:solidFill>
                  <a:srgbClr val="003470"/>
                </a:solidFill>
                <a:latin typeface="Agrandir Bold"/>
              </a:rPr>
              <a:t>Three ways to deploy, one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3017520"/>
            <a:ext cx="8229600" cy="105156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46920" y="315467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50040" y="3154679"/>
            <a:ext cx="571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35507A"/>
                </a:solidFill>
                <a:latin typeface="Agrandir"/>
              </a:rPr>
              <a:t>Pyodide in a Web Worker. Zero server cost, nothing leaves the laptop. Works today.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224528"/>
            <a:ext cx="8229600" cy="105156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46920" y="4361688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4361688"/>
            <a:ext cx="571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35507A"/>
                </a:solidFill>
                <a:latin typeface="Agrandir"/>
              </a:rPr>
              <a:t>FastAPI, job queue, one Docker container per run, result cache by content hash. Tested.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5431536"/>
            <a:ext cx="8229600" cy="105156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46920" y="556869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0">
                <a:solidFill>
                  <a:srgbClr val="003470"/>
                </a:solidFill>
                <a:latin typeface="Agrandir Bold"/>
              </a:rPr>
              <a:t>CI / author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5568696"/>
            <a:ext cx="5715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35507A"/>
                </a:solidFill>
                <a:latin typeface="Agrandir"/>
              </a:rPr>
              <a:t>The CLI writes a GitHub Action that re-audits on every push, plus a README badge.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6720840"/>
            <a:ext cx="8229600" cy="3154680"/>
          </a:xfrm>
          <a:prstGeom prst="roundRect">
            <a:avLst>
              <a:gd name="adj" fmla="val 6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92640" y="6903720"/>
            <a:ext cx="76809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80" b="0">
                <a:solidFill>
                  <a:srgbClr val="FFCD82"/>
                </a:solidFill>
                <a:latin typeface="Agrandir Bold"/>
              </a:rPr>
              <a:t>Sustainability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20" b="0">
                <a:solidFill>
                  <a:srgbClr val="FFFFFF"/>
                </a:solidFill>
                <a:latin typeface="Agrandir"/>
              </a:rPr>
              <a:t>Open-source core (MIT) so labs can self-host and trust the checks.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20" b="0">
                <a:solidFill>
                  <a:srgbClr val="FFFFFF"/>
                </a:solidFill>
                <a:latin typeface="Agrandir"/>
              </a:rPr>
              <a:t>Hosted tier for conferences and journals: batch audits of artifact submissions, badge issuing, reviewer reports.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20" b="0">
                <a:solidFill>
                  <a:srgbClr val="FFFFFF"/>
                </a:solidFill>
                <a:latin typeface="Agrandir"/>
              </a:rPr>
              <a:t>Compute cost scales with papers audited, and small papers cost nothing because they run in the visitor's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02442" y="682985"/>
            <a:ext cx="1463040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IMPACT AND SCALING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3" name="Takeaway"/>
          <p:cNvSpPr/>
          <p:nvPr/>
        </p:nvSpPr>
        <p:spPr>
          <a:xfrm>
            <a:off x="11841480" y="566928"/>
            <a:ext cx="4983480" cy="1261872"/>
          </a:xfrm>
          <a:prstGeom prst="roundRect">
            <a:avLst>
              <a:gd name="adj" fmla="val 12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88368" y="676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90" b="0">
                <a:solidFill>
                  <a:srgbClr val="FF914D"/>
                </a:solidFill>
                <a:latin typeface="Agrandir Bold"/>
              </a:rPr>
              <a:t>THE POINT</a:t>
            </a:r>
          </a:p>
        </p:txBody>
      </p:sp>
      <p:sp>
        <p:nvSpPr>
          <p:cNvPr id="15" name="Takeaway text"/>
          <p:cNvSpPr txBox="1"/>
          <p:nvPr/>
        </p:nvSpPr>
        <p:spPr>
          <a:xfrm>
            <a:off x="12088368" y="95097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FFCD82"/>
                </a:solidFill>
                <a:latin typeface="Agrandir Bold"/>
              </a:rPr>
              <a:t>Success is cheap. </a:t>
            </a:r>
            <a:r>
              <a:rPr sz="1610" b="0">
                <a:solidFill>
                  <a:srgbClr val="FFFFFF"/>
                </a:solidFill>
                <a:latin typeface="Agrandir"/>
              </a:rPr>
              <a:t>Audits run in the user's browser, so 10× users is mostly static hosting.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248716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80" b="0">
                <a:solidFill>
                  <a:srgbClr val="003470"/>
                </a:solidFill>
                <a:latin typeface="Agrandir Bold"/>
              </a:rPr>
              <a:t>Who it is for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97180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31089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60" b="0">
                <a:solidFill>
                  <a:srgbClr val="003470"/>
                </a:solidFill>
                <a:latin typeface="Agrandir Bold"/>
              </a:rPr>
              <a:t>Reviewers &amp; repro chairs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216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35507A"/>
                </a:solidFill>
                <a:latin typeface="Agrandir"/>
              </a:rPr>
              <a:t>triage artifact submissions in minutes, with evidence to cite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9744" y="297180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92624" y="31089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60" b="0">
                <a:solidFill>
                  <a:srgbClr val="003470"/>
                </a:solidFill>
                <a:latin typeface="Agrandir Bold"/>
              </a:rPr>
              <a:t>Students &amp; MLRC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2624" y="37216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35507A"/>
                </a:solidFill>
                <a:latin typeface="Agrandir"/>
              </a:rPr>
              <a:t>reproduce a paper for coursework and learn why it differs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457200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6384" y="47091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60" b="0">
                <a:solidFill>
                  <a:srgbClr val="003470"/>
                </a:solidFill>
                <a:latin typeface="Agrandir Bold"/>
              </a:rPr>
              <a:t>ML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3218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35507A"/>
                </a:solidFill>
                <a:latin typeface="Agrandir"/>
              </a:rPr>
              <a:t>check a paper's claims before building on them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9744" y="457200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92624" y="47091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60" b="0">
                <a:solidFill>
                  <a:srgbClr val="003470"/>
                </a:solidFill>
                <a:latin typeface="Agrandir Bold"/>
              </a:rPr>
              <a:t>Authors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53218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35507A"/>
                </a:solidFill>
                <a:latin typeface="Agrandir"/>
              </a:rPr>
              <a:t>pre-submission check and a README badge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63550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80" b="0">
                <a:solidFill>
                  <a:srgbClr val="003470"/>
                </a:solidFill>
                <a:latin typeface="Agrandir Bold"/>
              </a:rPr>
              <a:t>Tested, not promised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6812280"/>
            <a:ext cx="8229600" cy="306324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6967728"/>
            <a:ext cx="78638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50" b="0">
                <a:solidFill>
                  <a:srgbClr val="0A7A51"/>
                </a:solidFill>
                <a:latin typeface="Segoe UI Symbol"/>
              </a:rPr>
              <a:t>✓  </a:t>
            </a:r>
            <a:r>
              <a:rPr sz="1750" b="0">
                <a:solidFill>
                  <a:srgbClr val="003470"/>
                </a:solidFill>
                <a:latin typeface="Agrandir"/>
              </a:rPr>
              <a:t>13/13 planted issues caught, 0 false alarms (clean control: 0 findings)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50" b="0">
                <a:solidFill>
                  <a:srgbClr val="0A7A51"/>
                </a:solidFill>
                <a:latin typeface="Segoe UI Symbol"/>
              </a:rPr>
              <a:t>✓  </a:t>
            </a:r>
            <a:r>
              <a:rPr sz="1750" b="0">
                <a:solidFill>
                  <a:srgbClr val="003470"/>
                </a:solidFill>
                <a:latin typeface="Agrandir"/>
              </a:rPr>
              <a:t>11 automated tests: planted, clean, live edits, real paper, server API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50" b="0">
                <a:solidFill>
                  <a:srgbClr val="0A7A51"/>
                </a:solidFill>
                <a:latin typeface="Segoe UI Symbol"/>
              </a:rPr>
              <a:t>✓  </a:t>
            </a:r>
            <a:r>
              <a:rPr sz="1750" b="0">
                <a:solidFill>
                  <a:srgbClr val="003470"/>
                </a:solidFill>
                <a:latin typeface="Agrandir"/>
              </a:rPr>
              <a:t>Browser and laptop runs give identical numbers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50" b="0">
                <a:solidFill>
                  <a:srgbClr val="0A7A51"/>
                </a:solidFill>
                <a:latin typeface="Segoe UI Symbol"/>
              </a:rPr>
              <a:t>✓  </a:t>
            </a:r>
            <a:r>
              <a:rPr sz="1750" b="0">
                <a:solidFill>
                  <a:srgbClr val="003470"/>
                </a:solidFill>
                <a:latin typeface="Agrandir"/>
              </a:rPr>
              <a:t>Live edits re-audited: fixing C turns C1 green; a new scaler leak is caught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50" b="0">
                <a:solidFill>
                  <a:srgbClr val="0A7A51"/>
                </a:solidFill>
                <a:latin typeface="Segoe UI Symbol"/>
              </a:rPr>
              <a:t>✓  </a:t>
            </a:r>
            <a:r>
              <a:rPr sz="1750" b="0">
                <a:solidFill>
                  <a:srgbClr val="003470"/>
                </a:solidFill>
                <a:latin typeface="Agrandir"/>
              </a:rPr>
              <a:t>Server mode: HTTP submit, poll, idempotent cache, rate limits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50" b="0">
                <a:solidFill>
                  <a:srgbClr val="0A7A51"/>
                </a:solidFill>
                <a:latin typeface="Segoe UI Symbol"/>
              </a:rPr>
              <a:t>✓  </a:t>
            </a:r>
            <a:r>
              <a:rPr sz="1750" b="0">
                <a:solidFill>
                  <a:srgbClr val="003470"/>
                </a:solidFill>
                <a:latin typeface="Agrandir"/>
              </a:rPr>
              <a:t>Real 1993 paper: one claim exact, one flagged with the paper's own reason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2487168"/>
            <a:ext cx="8321040" cy="7388352"/>
          </a:xfrm>
          <a:prstGeom prst="roundRect">
            <a:avLst>
              <a:gd name="adj" fmla="val 6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01200" y="2670048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60" b="0">
                <a:solidFill>
                  <a:srgbClr val="FFCD82"/>
                </a:solidFill>
                <a:latin typeface="Agrandir Bold"/>
              </a:rPr>
              <a:t>YC says yes tomorrow. </a:t>
            </a:r>
            <a:r>
              <a:rPr sz="2660" b="0">
                <a:solidFill>
                  <a:srgbClr val="FFFFFF"/>
                </a:solidFill>
                <a:latin typeface="Agrandir"/>
              </a:rPr>
              <a:t>Can it handle success next week?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749039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CD82"/>
                </a:solidFill>
                <a:latin typeface="Agrandir Bold"/>
              </a:rPr>
              <a:t>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3749039"/>
            <a:ext cx="5897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FFFFFF"/>
                </a:solidFill>
                <a:latin typeface="Agrandir"/>
              </a:rPr>
              <a:t>Most audits run in the visitor's browser, so 10× traffic is mostly static file hosting.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754879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CD82"/>
                </a:solidFill>
                <a:latin typeface="Agrandir Bold"/>
              </a:rPr>
              <a:t>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4754879"/>
            <a:ext cx="5897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FFFFFF"/>
                </a:solidFill>
                <a:latin typeface="Agrandir"/>
              </a:rPr>
              <a:t>Stateless API + queue; autoscaled Docker workers; one container per run.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7607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CD82"/>
                </a:solidFill>
                <a:latin typeface="Agrandir Bold"/>
              </a:rPr>
              <a:t>Repeat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5760720"/>
            <a:ext cx="5897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FFFFFF"/>
                </a:solidFill>
                <a:latin typeface="Agrandir"/>
              </a:rPr>
              <a:t>Runs cached by hash of files, command and library versions; duplicate submissions are free.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7665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CD82"/>
                </a:solidFill>
                <a:latin typeface="Agrandir Bold"/>
              </a:rPr>
              <a:t>Breaks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766560"/>
            <a:ext cx="5897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FFFFFF"/>
                </a:solidFill>
                <a:latin typeface="Agrandir"/>
              </a:rPr>
              <a:t>Per-run CPU, RAM, PID and time caps; network off; rate limit per client.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777240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CD82"/>
                </a:solidFill>
                <a:latin typeface="Agrandir Bold"/>
              </a:rPr>
              <a:t>Crashes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7772400"/>
            <a:ext cx="5897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FFFFFF"/>
                </a:solidFill>
                <a:latin typeface="Agrandir"/>
              </a:rPr>
              <a:t>Self-heal known API breaks; failed jobs keep their events; static audit still reports.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87782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CD82"/>
                </a:solidFill>
                <a:latin typeface="Agrandir Bold"/>
              </a:rPr>
              <a:t>Robustness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8778240"/>
            <a:ext cx="5897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0">
                <a:solidFill>
                  <a:srgbClr val="FFFFFF"/>
                </a:solidFill>
                <a:latin typeface="Agrandir"/>
              </a:rPr>
              <a:t>Idempotent jobs and retries; recorded replay if live compute is 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02442" y="682985"/>
            <a:ext cx="1463040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RESEARCH AND REFERENCES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3" name="Takeaway"/>
          <p:cNvSpPr/>
          <p:nvPr/>
        </p:nvSpPr>
        <p:spPr>
          <a:xfrm>
            <a:off x="11841480" y="566928"/>
            <a:ext cx="4983480" cy="1261872"/>
          </a:xfrm>
          <a:prstGeom prst="roundRect">
            <a:avLst>
              <a:gd name="adj" fmla="val 12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88368" y="676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90" b="0">
                <a:solidFill>
                  <a:srgbClr val="FF914D"/>
                </a:solidFill>
                <a:latin typeface="Agrandir Bold"/>
              </a:rPr>
              <a:t>THE POINT</a:t>
            </a:r>
          </a:p>
        </p:txBody>
      </p:sp>
      <p:sp>
        <p:nvSpPr>
          <p:cNvPr id="15" name="Takeaway text"/>
          <p:cNvSpPr txBox="1"/>
          <p:nvPr/>
        </p:nvSpPr>
        <p:spPr>
          <a:xfrm>
            <a:off x="12088368" y="95097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FFCD82"/>
                </a:solidFill>
                <a:latin typeface="Agrandir Bold"/>
              </a:rPr>
              <a:t>Still unsolved. </a:t>
            </a:r>
            <a:r>
              <a:rPr sz="1610" b="0">
                <a:solidFill>
                  <a:srgbClr val="FFFFFF"/>
                </a:solidFill>
                <a:latin typeface="Agrandir"/>
              </a:rPr>
              <a:t>Top agents replicate under a third of papers; top LLMs find under half the discrepancies.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2542032"/>
            <a:ext cx="40233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" y="26517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920" b="0">
                <a:solidFill>
                  <a:srgbClr val="FF914D"/>
                </a:solidFill>
                <a:latin typeface="Anton"/>
              </a:rPr>
              <a:t>21–27%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319272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best agents on PaperBench vs 41% for ML PhDs: replication is still hard (OpenAI, 2025)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9744" y="2542032"/>
            <a:ext cx="40233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992624" y="26517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920" b="0">
                <a:solidFill>
                  <a:srgbClr val="FF914D"/>
                </a:solidFill>
                <a:latin typeface="Anton"/>
              </a:rPr>
              <a:t>46.7%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3319272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of real paper–code discrepancies found by the best LLMs (SciCoQA, ACL 2026)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4370831"/>
            <a:ext cx="40233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448055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920" b="0">
                <a:solidFill>
                  <a:srgbClr val="FF914D"/>
                </a:solidFill>
                <a:latin typeface="Anton"/>
              </a:rPr>
              <a:t>294+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148071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papers in 17 fields affected by leakage (Kapoor &amp; Narayanan, Patterns 2023)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9744" y="4370831"/>
            <a:ext cx="40233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992624" y="448055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920" b="0">
                <a:solidFill>
                  <a:srgbClr val="FF914D"/>
                </a:solidFill>
                <a:latin typeface="Anton"/>
              </a:rPr>
              <a:t>68%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5148071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full replication by VERITAS after automated fixes; it reports whether, not why (arXiv 2607.02931)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3550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380" b="0">
                <a:solidFill>
                  <a:srgbClr val="003470"/>
                </a:solidFill>
                <a:latin typeface="Agrandir Bold"/>
              </a:rPr>
              <a:t>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6812280"/>
            <a:ext cx="84124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Kapoor &amp; Narayanan. Leakage and the reproducibility crisis in ML-based science. Patterns, 2023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Starace et al. PaperBench. OpenAI, 2025 · Siegel et al. CORE-Bench, 2024 · REPRO-Bench, ACL 2025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SciCoQA: paper–code alignment, ACL 2026 (arXiv 2601.12910) · Dude, arXiv 2609.03416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VERITAS: a general-purpose replication tool, arXiv 2607.02931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Brown &amp; Heathers. The GRIM test. Social Psychological and Personality Science, 2017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Pineau et al. ML Reproducibility Checklist, 2021 · Kapoor et al. REFORMS, 2023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35507A"/>
                </a:solidFill>
                <a:latin typeface="Agrandir"/>
              </a:rPr>
              <a:t>Street, Wolberg &amp; Mangasarian. Nuclear feature extraction for breast tumor diagnosis. SPIE, 1993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2542032"/>
            <a:ext cx="8275320" cy="4343400"/>
          </a:xfrm>
          <a:prstGeom prst="roundRect">
            <a:avLst>
              <a:gd name="adj" fmla="val 6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46920" y="272491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60" b="0">
                <a:solidFill>
                  <a:srgbClr val="FFCD82"/>
                </a:solidFill>
                <a:latin typeface="Agrandir Bold"/>
              </a:rPr>
              <a:t>Try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3101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FFFF"/>
                </a:solidFill>
                <a:latin typeface="Agrandir Bold"/>
              </a:rPr>
              <a:t>Live demo</a:t>
            </a:r>
          </a:p>
        </p:txBody>
      </p:sp>
      <p:sp>
        <p:nvSpPr>
          <p:cNvPr id="33" name="TextBox 32">
            <a:hlinkClick r:id="rId3"/>
          </p:cNvPr>
          <p:cNvSpPr txBox="1"/>
          <p:nvPr/>
        </p:nvSpPr>
        <p:spPr>
          <a:xfrm>
            <a:off x="11658600" y="334670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 u="sng">
                <a:solidFill>
                  <a:srgbClr val="FFCD82"/>
                </a:solidFill>
                <a:latin typeface="Agrandi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preflight-el01.github.io/preflight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931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FFFF"/>
                </a:solidFill>
                <a:latin typeface="Agrandir Bold"/>
              </a:rPr>
              <a:t>Code (MIT)</a:t>
            </a:r>
          </a:p>
        </p:txBody>
      </p:sp>
      <p:sp>
        <p:nvSpPr>
          <p:cNvPr id="35" name="TextBox 34">
            <a:hlinkClick r:id="rId4"/>
          </p:cNvPr>
          <p:cNvSpPr txBox="1"/>
          <p:nvPr/>
        </p:nvSpPr>
        <p:spPr>
          <a:xfrm>
            <a:off x="11658600" y="3968496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 u="sng">
                <a:solidFill>
                  <a:srgbClr val="FFCD82"/>
                </a:solidFill>
                <a:latin typeface="Agrandi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github.com/preflight-el01/preflight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45537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FFFF"/>
                </a:solidFill>
                <a:latin typeface="Agrandir Bold"/>
              </a:rPr>
              <a:t>Video</a:t>
            </a:r>
          </a:p>
        </p:txBody>
      </p:sp>
      <p:sp>
        <p:nvSpPr>
          <p:cNvPr id="37" name="TextBox 36">
            <a:hlinkClick r:id="rId5"/>
          </p:cNvPr>
          <p:cNvSpPr txBox="1"/>
          <p:nvPr/>
        </p:nvSpPr>
        <p:spPr>
          <a:xfrm>
            <a:off x="11658600" y="4590288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 u="sng">
                <a:solidFill>
                  <a:srgbClr val="FFCD82"/>
                </a:solidFill>
                <a:latin typeface="Agrandi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the 90-second walkthrough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517550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60" b="0">
                <a:solidFill>
                  <a:srgbClr val="FFFFFF"/>
                </a:solidFill>
                <a:latin typeface="Agrandir Bold"/>
              </a:rPr>
              <a:t>Test kit</a:t>
            </a:r>
          </a:p>
        </p:txBody>
      </p:sp>
      <p:sp>
        <p:nvSpPr>
          <p:cNvPr id="39" name="TextBox 38">
            <a:hlinkClick r:id="rId6"/>
          </p:cNvPr>
          <p:cNvSpPr txBox="1"/>
          <p:nvPr/>
        </p:nvSpPr>
        <p:spPr>
          <a:xfrm>
            <a:off x="11658600" y="52120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 u="sng">
                <a:solidFill>
                  <a:srgbClr val="FFCD82"/>
                </a:solidFill>
                <a:latin typeface="Agrandi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test paper with planted bugs</a:t>
            </a:r>
          </a:p>
        </p:txBody>
      </p:sp>
      <p:pic>
        <p:nvPicPr>
          <p:cNvPr id="40" name="Picture 39" descr="qr_demo.png">
            <a:hlinkClick r:id="rId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10559" y="3246120"/>
            <a:ext cx="1508760" cy="1508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46920" y="594360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80" b="0">
                <a:solidFill>
                  <a:srgbClr val="FFFFFF"/>
                </a:solidFill>
                <a:latin typeface="Agrandir"/>
              </a:rPr>
              <a:t>In the app: press </a:t>
            </a:r>
            <a:r>
              <a:rPr sz="1680" b="0" u="sng">
                <a:solidFill>
                  <a:srgbClr val="FFCD82"/>
                </a:solidFill>
                <a:latin typeface="Agrandir Bol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Tour</a:t>
            </a:r>
            <a:r>
              <a:rPr sz="1680" b="0">
                <a:solidFill>
                  <a:srgbClr val="FFFFFF"/>
                </a:solidFill>
                <a:latin typeface="Agrandir"/>
              </a:rPr>
              <a:t> for a guided walkthrough, Ctrl K to search, Audit your own to upload a PDF.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72600" y="7086600"/>
            <a:ext cx="8275320" cy="278892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646920" y="7242048"/>
            <a:ext cx="7772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680" b="0">
                <a:solidFill>
                  <a:srgbClr val="003470"/>
                </a:solidFill>
                <a:latin typeface="Agrandir Bold"/>
              </a:rPr>
              <a:t>Datasets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680" b="0">
                <a:solidFill>
                  <a:srgbClr val="003470"/>
                </a:solidFill>
                <a:latin typeface="Agrandir"/>
              </a:rPr>
              <a:t>Bundled with scikit-learn: Wisconsin Diagnostic Breast Cancer (569 cases), Digits. Generated: SynthGene-2k, SynthMed, SynthHD, SynthKNN-Aug, SynthLarge-2M.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680" b="0">
                <a:solidFill>
                  <a:srgbClr val="003470"/>
                </a:solidFill>
                <a:latin typeface="Agrandir Bold"/>
              </a:rPr>
              <a:t>Papers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680" b="0">
                <a:solidFill>
                  <a:srgbClr val="003470"/>
                </a:solidFill>
                <a:latin typeface="Agrandir"/>
              </a:rPr>
              <a:t>Three fictional test papers with an answer key (A, B, C) and one real paper (Street et al., 1993). Every number shown comes from a logged sandbox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602442" y="682985"/>
            <a:ext cx="1463040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LIVE PROOF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3" name="Takeaway"/>
          <p:cNvSpPr/>
          <p:nvPr/>
        </p:nvSpPr>
        <p:spPr>
          <a:xfrm>
            <a:off x="11841480" y="566928"/>
            <a:ext cx="4983480" cy="1261872"/>
          </a:xfrm>
          <a:prstGeom prst="roundRect">
            <a:avLst>
              <a:gd name="adj" fmla="val 12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88368" y="676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90" b="0">
                <a:solidFill>
                  <a:srgbClr val="FF914D"/>
                </a:solidFill>
                <a:latin typeface="Agrandir Bold"/>
              </a:rPr>
              <a:t>THE POINT</a:t>
            </a:r>
          </a:p>
        </p:txBody>
      </p:sp>
      <p:sp>
        <p:nvSpPr>
          <p:cNvPr id="15" name="Takeaway text"/>
          <p:cNvSpPr txBox="1"/>
          <p:nvPr/>
        </p:nvSpPr>
        <p:spPr>
          <a:xfrm>
            <a:off x="12088368" y="95097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10" b="0">
                <a:solidFill>
                  <a:srgbClr val="FFCD82"/>
                </a:solidFill>
                <a:latin typeface="Agrandir Bold"/>
              </a:rPr>
              <a:t>Proof, not promises. </a:t>
            </a:r>
            <a:r>
              <a:rPr sz="1610" b="0">
                <a:solidFill>
                  <a:srgbClr val="FFFFFF"/>
                </a:solidFill>
                <a:latin typeface="Agrandir"/>
              </a:rPr>
              <a:t>Four findings from the real app, each backed by a re-run.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2487168"/>
            <a:ext cx="1700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40" b="0">
                <a:solidFill>
                  <a:srgbClr val="003470"/>
                </a:solidFill>
                <a:latin typeface="Agrandir Bold"/>
              </a:rPr>
              <a:t>Each screen is a re-run, not an opinion. Click any one to open it live in the app.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3" y="3008376"/>
            <a:ext cx="5951728" cy="3310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attr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63240"/>
            <a:ext cx="5842000" cy="3200400"/>
          </a:xfrm>
          <a:prstGeom prst="rect">
            <a:avLst/>
          </a:prstGeom>
        </p:spPr>
      </p:pic>
      <p:sp>
        <p:nvSpPr>
          <p:cNvPr id="19" name="TextBox 18">
            <a:hlinkClick r:id="rId4"/>
          </p:cNvPr>
          <p:cNvSpPr txBox="1"/>
          <p:nvPr/>
        </p:nvSpPr>
        <p:spPr>
          <a:xfrm>
            <a:off x="603504" y="6391655"/>
            <a:ext cx="8275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80" b="0" u="sng">
                <a:solidFill>
                  <a:srgbClr val="003470"/>
                </a:solidFill>
                <a:latin typeface="Agrandir 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C1 fails: one config value explains 96% of the gap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3008376"/>
            <a:ext cx="7136859" cy="3310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leak_crop42x100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7464" y="3063240"/>
            <a:ext cx="7027131" cy="3200400"/>
          </a:xfrm>
          <a:prstGeom prst="rect">
            <a:avLst/>
          </a:prstGeom>
        </p:spPr>
      </p:pic>
      <p:sp>
        <p:nvSpPr>
          <p:cNvPr id="22" name="TextBox 21">
            <a:hlinkClick r:id="rId6"/>
          </p:cNvPr>
          <p:cNvSpPr txBox="1"/>
          <p:nvPr/>
        </p:nvSpPr>
        <p:spPr>
          <a:xfrm>
            <a:off x="9372600" y="6391655"/>
            <a:ext cx="8275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80" b="0" u="sng">
                <a:solidFill>
                  <a:srgbClr val="003470"/>
                </a:solidFill>
                <a:latin typeface="Agrandir Bol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C5 cannot be trusted: the leak, the patch, the drop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3" y="6848856"/>
            <a:ext cx="7872922" cy="2624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rag.png">
            <a:hlinkClick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6903720"/>
            <a:ext cx="7763194" cy="2514600"/>
          </a:xfrm>
          <a:prstGeom prst="rect">
            <a:avLst/>
          </a:prstGeom>
        </p:spPr>
      </p:pic>
      <p:sp>
        <p:nvSpPr>
          <p:cNvPr id="25" name="TextBox 24">
            <a:hlinkClick r:id="rId8"/>
          </p:cNvPr>
          <p:cNvSpPr txBox="1"/>
          <p:nvPr/>
        </p:nvSpPr>
        <p:spPr>
          <a:xfrm>
            <a:off x="603504" y="9546336"/>
            <a:ext cx="8275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80" b="0" u="sng">
                <a:solidFill>
                  <a:srgbClr val="003470"/>
                </a:solidFill>
                <a:latin typeface="Agrandir Bol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C7 is fragile: 15 of 30 conditions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6848856"/>
            <a:ext cx="5486224" cy="2624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real_crop100x66.png">
            <a:hlinkClick r:id="rId10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7464" y="6903720"/>
            <a:ext cx="5376496" cy="25146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5069136" y="6848856"/>
            <a:ext cx="2578783" cy="2624328"/>
          </a:xfrm>
          <a:prstGeom prst="roundRect">
            <a:avLst>
              <a:gd name="adj" fmla="val 6000"/>
            </a:avLst>
          </a:prstGeom>
          <a:solidFill>
            <a:srgbClr val="00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270304" y="7013448"/>
            <a:ext cx="2213023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20" b="0">
                <a:solidFill>
                  <a:srgbClr val="FFCD82"/>
                </a:solidFill>
                <a:latin typeface="Agrandir Bold"/>
              </a:rPr>
              <a:t>Real paper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FFFFFF"/>
                </a:solidFill>
                <a:latin typeface="Agrandir"/>
              </a:rPr>
              <a:t>Street, Wolberg &amp; Mangasarian, 1993.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40" b="0">
                <a:solidFill>
                  <a:srgbClr val="FFFFFF"/>
                </a:solidFill>
                <a:latin typeface="Agrandir"/>
              </a:rPr>
              <a:t>The authors released no code, so the repo is our reproduction.</a:t>
            </a:r>
          </a:p>
        </p:txBody>
      </p:sp>
      <p:sp>
        <p:nvSpPr>
          <p:cNvPr id="30" name="TextBox 29">
            <a:hlinkClick r:id="rId10"/>
          </p:cNvPr>
          <p:cNvSpPr txBox="1"/>
          <p:nvPr/>
        </p:nvSpPr>
        <p:spPr>
          <a:xfrm>
            <a:off x="9372600" y="9546336"/>
            <a:ext cx="8275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80" b="0" u="sng">
                <a:solidFill>
                  <a:srgbClr val="003470"/>
                </a:solidFill>
                <a:latin typeface="Agrandir Bol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real paper: one claim exact, one optimistic, and its reason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Custom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Agrandir Bold</vt:lpstr>
      <vt:lpstr>Agrandir</vt:lpstr>
      <vt:lpstr>Arial</vt:lpstr>
      <vt:lpstr>Horizon</vt:lpstr>
      <vt:lpstr>Bebas Neue</vt:lpstr>
      <vt:lpstr>Agrandir Medium</vt:lpstr>
      <vt:lpstr>Calibri</vt:lpstr>
      <vt:lpstr>Now Medium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Elevate 1.0 Template</dc:title>
  <dc:creator>sam</dc:creator>
  <cp:lastModifiedBy>Milind Bhirud</cp:lastModifiedBy>
  <cp:revision>1</cp:revision>
  <dcterms:created xsi:type="dcterms:W3CDTF">2006-08-16T00:00:00Z</dcterms:created>
  <dcterms:modified xsi:type="dcterms:W3CDTF">2026-09-17T12:58:53Z</dcterms:modified>
  <dc:identifier>DAHVYH0ZRyA</dc:identifier>
</cp:coreProperties>
</file>